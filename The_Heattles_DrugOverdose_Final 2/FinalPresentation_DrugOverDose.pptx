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8" d="100"/>
          <a:sy n="148" d="100"/>
        </p:scale>
        <p:origin x="50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All Drugs</c:v>
                </c:pt>
              </c:strCache>
            </c:strRef>
          </c:tx>
          <c:spPr>
            <a:ln w="31750" cap="flat">
              <a:solidFill>
                <a:srgbClr val="334155"/>
              </a:solidFill>
              <a:prstDash val="solid"/>
              <a:round/>
            </a:ln>
            <a:effectLst/>
          </c:spPr>
          <c:marker>
            <c:symbol val="circle"/>
            <c:size val="6"/>
            <c:spPr>
              <a:solidFill>
                <a:srgbClr val="334155"/>
              </a:solidFill>
              <a:ln w="9525" cap="flat">
                <a:solidFill>
                  <a:srgbClr val="334155"/>
                </a:solidFill>
                <a:prstDash val="solid"/>
                <a:round/>
              </a:ln>
              <a:effectLst/>
            </c:spPr>
          </c:marker>
          <c:cat>
            <c:strRef>
              <c:f>Sheet1!$A$2:$A$9</c:f>
              <c:strCache>
                <c:ptCount val="8"/>
                <c:pt idx="0">
                  <c:v>2015</c:v>
                </c:pt>
                <c:pt idx="1">
                  <c:v>2016</c:v>
                </c:pt>
                <c:pt idx="2">
                  <c:v>2017</c:v>
                </c:pt>
                <c:pt idx="3">
                  <c:v>2018</c:v>
                </c:pt>
                <c:pt idx="4">
                  <c:v>2019</c:v>
                </c:pt>
                <c:pt idx="5">
                  <c:v>2020</c:v>
                </c:pt>
                <c:pt idx="6">
                  <c:v>2021</c:v>
                </c:pt>
                <c:pt idx="7">
                  <c:v>2022</c:v>
                </c:pt>
              </c:strCache>
            </c:strRef>
          </c:cat>
          <c:val>
            <c:numRef>
              <c:f>Sheet1!$B$2:$B$9</c:f>
              <c:numCache>
                <c:formatCode>General</c:formatCode>
                <c:ptCount val="8"/>
                <c:pt idx="0">
                  <c:v>52000</c:v>
                </c:pt>
                <c:pt idx="1">
                  <c:v>63000</c:v>
                </c:pt>
                <c:pt idx="2">
                  <c:v>70000</c:v>
                </c:pt>
                <c:pt idx="3">
                  <c:v>67000</c:v>
                </c:pt>
                <c:pt idx="4">
                  <c:v>70000</c:v>
                </c:pt>
                <c:pt idx="5">
                  <c:v>91000</c:v>
                </c:pt>
                <c:pt idx="6">
                  <c:v>107000</c:v>
                </c:pt>
                <c:pt idx="7">
                  <c:v>109000</c:v>
                </c:pt>
              </c:numCache>
            </c:numRef>
          </c:val>
          <c:smooth val="1"/>
          <c:extLst>
            <c:ext xmlns:c16="http://schemas.microsoft.com/office/drawing/2014/chart" uri="{C3380CC4-5D6E-409C-BE32-E72D297353CC}">
              <c16:uniqueId val="{00000000-E6C4-7040-9F98-7BBDCD7DAC09}"/>
            </c:ext>
          </c:extLst>
        </c:ser>
        <c:ser>
          <c:idx val="1"/>
          <c:order val="1"/>
          <c:tx>
            <c:strRef>
              <c:f>Sheet1!$C$1</c:f>
              <c:strCache>
                <c:ptCount val="1"/>
                <c:pt idx="0">
                  <c:v>Synthetic Opioids</c:v>
                </c:pt>
              </c:strCache>
            </c:strRef>
          </c:tx>
          <c:spPr>
            <a:ln w="31750" cap="flat">
              <a:solidFill>
                <a:srgbClr val="D62728"/>
              </a:solidFill>
              <a:prstDash val="solid"/>
              <a:round/>
            </a:ln>
            <a:effectLst/>
          </c:spPr>
          <c:marker>
            <c:symbol val="circle"/>
            <c:size val="6"/>
            <c:spPr>
              <a:solidFill>
                <a:srgbClr val="D62728"/>
              </a:solidFill>
              <a:ln w="9525" cap="flat">
                <a:solidFill>
                  <a:srgbClr val="D62728"/>
                </a:solidFill>
                <a:prstDash val="solid"/>
                <a:round/>
              </a:ln>
              <a:effectLst/>
            </c:spPr>
          </c:marker>
          <c:cat>
            <c:strRef>
              <c:f>Sheet1!$A$2:$A$9</c:f>
              <c:strCache>
                <c:ptCount val="8"/>
                <c:pt idx="0">
                  <c:v>2015</c:v>
                </c:pt>
                <c:pt idx="1">
                  <c:v>2016</c:v>
                </c:pt>
                <c:pt idx="2">
                  <c:v>2017</c:v>
                </c:pt>
                <c:pt idx="3">
                  <c:v>2018</c:v>
                </c:pt>
                <c:pt idx="4">
                  <c:v>2019</c:v>
                </c:pt>
                <c:pt idx="5">
                  <c:v>2020</c:v>
                </c:pt>
                <c:pt idx="6">
                  <c:v>2021</c:v>
                </c:pt>
                <c:pt idx="7">
                  <c:v>2022</c:v>
                </c:pt>
              </c:strCache>
            </c:strRef>
          </c:cat>
          <c:val>
            <c:numRef>
              <c:f>Sheet1!$C$2:$C$9</c:f>
              <c:numCache>
                <c:formatCode>General</c:formatCode>
                <c:ptCount val="8"/>
                <c:pt idx="0">
                  <c:v>9580</c:v>
                </c:pt>
                <c:pt idx="1">
                  <c:v>19413</c:v>
                </c:pt>
                <c:pt idx="2">
                  <c:v>28466</c:v>
                </c:pt>
                <c:pt idx="3">
                  <c:v>31335</c:v>
                </c:pt>
                <c:pt idx="4">
                  <c:v>36359</c:v>
                </c:pt>
                <c:pt idx="5">
                  <c:v>56516</c:v>
                </c:pt>
                <c:pt idx="6">
                  <c:v>71238</c:v>
                </c:pt>
                <c:pt idx="7">
                  <c:v>73838</c:v>
                </c:pt>
              </c:numCache>
            </c:numRef>
          </c:val>
          <c:smooth val="1"/>
          <c:extLst>
            <c:ext xmlns:c16="http://schemas.microsoft.com/office/drawing/2014/chart" uri="{C3380CC4-5D6E-409C-BE32-E72D297353CC}">
              <c16:uniqueId val="{00000001-E6C4-7040-9F98-7BBDCD7DAC09}"/>
            </c:ext>
          </c:extLst>
        </c:ser>
        <c:ser>
          <c:idx val="2"/>
          <c:order val="2"/>
          <c:tx>
            <c:strRef>
              <c:f>Sheet1!$D$1</c:f>
              <c:strCache>
                <c:ptCount val="1"/>
                <c:pt idx="0">
                  <c:v>All Opioids</c:v>
                </c:pt>
              </c:strCache>
            </c:strRef>
          </c:tx>
          <c:spPr>
            <a:ln w="31750" cap="flat">
              <a:solidFill>
                <a:srgbClr val="002D62"/>
              </a:solidFill>
              <a:prstDash val="solid"/>
              <a:round/>
            </a:ln>
            <a:effectLst/>
          </c:spPr>
          <c:marker>
            <c:symbol val="circle"/>
            <c:size val="6"/>
            <c:spPr>
              <a:solidFill>
                <a:srgbClr val="002D62"/>
              </a:solidFill>
              <a:ln w="9525" cap="flat">
                <a:solidFill>
                  <a:srgbClr val="002D62"/>
                </a:solidFill>
                <a:prstDash val="solid"/>
                <a:round/>
              </a:ln>
              <a:effectLst/>
            </c:spPr>
          </c:marker>
          <c:cat>
            <c:strRef>
              <c:f>Sheet1!$A$2:$A$9</c:f>
              <c:strCache>
                <c:ptCount val="8"/>
                <c:pt idx="0">
                  <c:v>2015</c:v>
                </c:pt>
                <c:pt idx="1">
                  <c:v>2016</c:v>
                </c:pt>
                <c:pt idx="2">
                  <c:v>2017</c:v>
                </c:pt>
                <c:pt idx="3">
                  <c:v>2018</c:v>
                </c:pt>
                <c:pt idx="4">
                  <c:v>2019</c:v>
                </c:pt>
                <c:pt idx="5">
                  <c:v>2020</c:v>
                </c:pt>
                <c:pt idx="6">
                  <c:v>2021</c:v>
                </c:pt>
                <c:pt idx="7">
                  <c:v>2022</c:v>
                </c:pt>
              </c:strCache>
            </c:strRef>
          </c:cat>
          <c:val>
            <c:numRef>
              <c:f>Sheet1!$D$2:$D$9</c:f>
              <c:numCache>
                <c:formatCode>General</c:formatCode>
                <c:ptCount val="8"/>
                <c:pt idx="0">
                  <c:v>33091</c:v>
                </c:pt>
                <c:pt idx="1">
                  <c:v>42249</c:v>
                </c:pt>
                <c:pt idx="2">
                  <c:v>47600</c:v>
                </c:pt>
                <c:pt idx="3">
                  <c:v>46802</c:v>
                </c:pt>
                <c:pt idx="4">
                  <c:v>49860</c:v>
                </c:pt>
                <c:pt idx="5">
                  <c:v>68630</c:v>
                </c:pt>
                <c:pt idx="6">
                  <c:v>80411</c:v>
                </c:pt>
                <c:pt idx="7">
                  <c:v>80411</c:v>
                </c:pt>
              </c:numCache>
            </c:numRef>
          </c:val>
          <c:smooth val="1"/>
          <c:extLst>
            <c:ext xmlns:c16="http://schemas.microsoft.com/office/drawing/2014/chart" uri="{C3380CC4-5D6E-409C-BE32-E72D297353CC}">
              <c16:uniqueId val="{00000002-E6C4-7040-9F98-7BBDCD7DAC09}"/>
            </c:ext>
          </c:extLst>
        </c:ser>
        <c:ser>
          <c:idx val="3"/>
          <c:order val="3"/>
          <c:tx>
            <c:strRef>
              <c:f>Sheet1!$E$1</c:f>
              <c:strCache>
                <c:ptCount val="1"/>
                <c:pt idx="0">
                  <c:v>Cocaine</c:v>
                </c:pt>
              </c:strCache>
            </c:strRef>
          </c:tx>
          <c:spPr>
            <a:ln w="31750" cap="flat">
              <a:solidFill>
                <a:srgbClr val="EA580C"/>
              </a:solidFill>
              <a:prstDash val="solid"/>
              <a:round/>
            </a:ln>
            <a:effectLst/>
          </c:spPr>
          <c:marker>
            <c:symbol val="circle"/>
            <c:size val="6"/>
            <c:spPr>
              <a:solidFill>
                <a:srgbClr val="EA580C"/>
              </a:solidFill>
              <a:ln w="9525" cap="flat">
                <a:solidFill>
                  <a:srgbClr val="EA580C"/>
                </a:solidFill>
                <a:prstDash val="solid"/>
                <a:round/>
              </a:ln>
              <a:effectLst/>
            </c:spPr>
          </c:marker>
          <c:cat>
            <c:strRef>
              <c:f>Sheet1!$A$2:$A$9</c:f>
              <c:strCache>
                <c:ptCount val="8"/>
                <c:pt idx="0">
                  <c:v>2015</c:v>
                </c:pt>
                <c:pt idx="1">
                  <c:v>2016</c:v>
                </c:pt>
                <c:pt idx="2">
                  <c:v>2017</c:v>
                </c:pt>
                <c:pt idx="3">
                  <c:v>2018</c:v>
                </c:pt>
                <c:pt idx="4">
                  <c:v>2019</c:v>
                </c:pt>
                <c:pt idx="5">
                  <c:v>2020</c:v>
                </c:pt>
                <c:pt idx="6">
                  <c:v>2021</c:v>
                </c:pt>
                <c:pt idx="7">
                  <c:v>2022</c:v>
                </c:pt>
              </c:strCache>
            </c:strRef>
          </c:cat>
          <c:val>
            <c:numRef>
              <c:f>Sheet1!$E$2:$E$9</c:f>
              <c:numCache>
                <c:formatCode>General</c:formatCode>
                <c:ptCount val="8"/>
                <c:pt idx="0">
                  <c:v>6784</c:v>
                </c:pt>
                <c:pt idx="1">
                  <c:v>10619</c:v>
                </c:pt>
                <c:pt idx="2">
                  <c:v>13942</c:v>
                </c:pt>
                <c:pt idx="3">
                  <c:v>14666</c:v>
                </c:pt>
                <c:pt idx="4">
                  <c:v>15883</c:v>
                </c:pt>
                <c:pt idx="5">
                  <c:v>19447</c:v>
                </c:pt>
                <c:pt idx="6">
                  <c:v>24486</c:v>
                </c:pt>
                <c:pt idx="7">
                  <c:v>24486</c:v>
                </c:pt>
              </c:numCache>
            </c:numRef>
          </c:val>
          <c:smooth val="1"/>
          <c:extLst>
            <c:ext xmlns:c16="http://schemas.microsoft.com/office/drawing/2014/chart" uri="{C3380CC4-5D6E-409C-BE32-E72D297353CC}">
              <c16:uniqueId val="{00000003-E6C4-7040-9F98-7BBDCD7DAC09}"/>
            </c:ext>
          </c:extLst>
        </c:ser>
        <c:ser>
          <c:idx val="4"/>
          <c:order val="4"/>
          <c:tx>
            <c:strRef>
              <c:f>Sheet1!$F$1</c:f>
              <c:strCache>
                <c:ptCount val="1"/>
                <c:pt idx="0">
                  <c:v>Heroin</c:v>
                </c:pt>
              </c:strCache>
            </c:strRef>
          </c:tx>
          <c:spPr>
            <a:ln w="31750" cap="flat">
              <a:solidFill>
                <a:srgbClr val="5A7ABF"/>
              </a:solidFill>
              <a:prstDash val="solid"/>
              <a:round/>
            </a:ln>
            <a:effectLst/>
          </c:spPr>
          <c:marker>
            <c:symbol val="circle"/>
            <c:size val="6"/>
            <c:spPr>
              <a:solidFill>
                <a:srgbClr val="5A7ABF"/>
              </a:solidFill>
              <a:ln w="9525" cap="flat">
                <a:solidFill>
                  <a:srgbClr val="5A7ABF"/>
                </a:solidFill>
                <a:prstDash val="solid"/>
                <a:round/>
              </a:ln>
              <a:effectLst/>
            </c:spPr>
          </c:marker>
          <c:cat>
            <c:strRef>
              <c:f>Sheet1!$A$2:$A$9</c:f>
              <c:strCache>
                <c:ptCount val="8"/>
                <c:pt idx="0">
                  <c:v>2015</c:v>
                </c:pt>
                <c:pt idx="1">
                  <c:v>2016</c:v>
                </c:pt>
                <c:pt idx="2">
                  <c:v>2017</c:v>
                </c:pt>
                <c:pt idx="3">
                  <c:v>2018</c:v>
                </c:pt>
                <c:pt idx="4">
                  <c:v>2019</c:v>
                </c:pt>
                <c:pt idx="5">
                  <c:v>2020</c:v>
                </c:pt>
                <c:pt idx="6">
                  <c:v>2021</c:v>
                </c:pt>
                <c:pt idx="7">
                  <c:v>2022</c:v>
                </c:pt>
              </c:strCache>
            </c:strRef>
          </c:cat>
          <c:val>
            <c:numRef>
              <c:f>Sheet1!$F$2:$F$9</c:f>
              <c:numCache>
                <c:formatCode>General</c:formatCode>
                <c:ptCount val="8"/>
                <c:pt idx="0">
                  <c:v>12989</c:v>
                </c:pt>
                <c:pt idx="1">
                  <c:v>15469</c:v>
                </c:pt>
                <c:pt idx="2">
                  <c:v>15482</c:v>
                </c:pt>
                <c:pt idx="3">
                  <c:v>14996</c:v>
                </c:pt>
                <c:pt idx="4">
                  <c:v>14019</c:v>
                </c:pt>
                <c:pt idx="5">
                  <c:v>13165</c:v>
                </c:pt>
                <c:pt idx="6">
                  <c:v>9173</c:v>
                </c:pt>
                <c:pt idx="7">
                  <c:v>5716</c:v>
                </c:pt>
              </c:numCache>
            </c:numRef>
          </c:val>
          <c:smooth val="1"/>
          <c:extLst>
            <c:ext xmlns:c16="http://schemas.microsoft.com/office/drawing/2014/chart" uri="{C3380CC4-5D6E-409C-BE32-E72D297353CC}">
              <c16:uniqueId val="{00000004-E6C4-7040-9F98-7BBDCD7DAC09}"/>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Cluster 1 — High Burden</c:v>
                </c:pt>
              </c:strCache>
            </c:strRef>
          </c:tx>
          <c:spPr>
            <a:solidFill>
              <a:srgbClr val="D62728"/>
            </a:solidFill>
            <a:effectLst/>
          </c:spPr>
          <c:invertIfNegative val="0"/>
          <c:cat>
            <c:strRef>
              <c:f>Sheet1!$A$2:$A$6</c:f>
              <c:strCache>
                <c:ptCount val="5"/>
                <c:pt idx="0">
                  <c:v>Synthetic Opioids</c:v>
                </c:pt>
                <c:pt idx="1">
                  <c:v>All Opioids</c:v>
                </c:pt>
                <c:pt idx="2">
                  <c:v>Cocaine</c:v>
                </c:pt>
                <c:pt idx="3">
                  <c:v>Heroin</c:v>
                </c:pt>
                <c:pt idx="4">
                  <c:v>Meth</c:v>
                </c:pt>
              </c:strCache>
            </c:strRef>
          </c:cat>
          <c:val>
            <c:numRef>
              <c:f>Sheet1!$B$2:$B$6</c:f>
              <c:numCache>
                <c:formatCode>General</c:formatCode>
                <c:ptCount val="5"/>
                <c:pt idx="0">
                  <c:v>8200</c:v>
                </c:pt>
                <c:pt idx="1">
                  <c:v>12100</c:v>
                </c:pt>
                <c:pt idx="2">
                  <c:v>3100</c:v>
                </c:pt>
                <c:pt idx="3">
                  <c:v>2800</c:v>
                </c:pt>
                <c:pt idx="4">
                  <c:v>1900</c:v>
                </c:pt>
              </c:numCache>
            </c:numRef>
          </c:val>
          <c:extLst>
            <c:ext xmlns:c16="http://schemas.microsoft.com/office/drawing/2014/chart" uri="{C3380CC4-5D6E-409C-BE32-E72D297353CC}">
              <c16:uniqueId val="{00000000-E3C1-6649-B8CD-DDF970949984}"/>
            </c:ext>
          </c:extLst>
        </c:ser>
        <c:ser>
          <c:idx val="1"/>
          <c:order val="1"/>
          <c:tx>
            <c:strRef>
              <c:f>Sheet1!$C$1</c:f>
              <c:strCache>
                <c:ptCount val="1"/>
                <c:pt idx="0">
                  <c:v>Cluster 2 — Moderate</c:v>
                </c:pt>
              </c:strCache>
            </c:strRef>
          </c:tx>
          <c:spPr>
            <a:solidFill>
              <a:srgbClr val="002D62"/>
            </a:solidFill>
            <a:effectLst/>
          </c:spPr>
          <c:invertIfNegative val="0"/>
          <c:cat>
            <c:strRef>
              <c:f>Sheet1!$A$2:$A$6</c:f>
              <c:strCache>
                <c:ptCount val="5"/>
                <c:pt idx="0">
                  <c:v>Synthetic Opioids</c:v>
                </c:pt>
                <c:pt idx="1">
                  <c:v>All Opioids</c:v>
                </c:pt>
                <c:pt idx="2">
                  <c:v>Cocaine</c:v>
                </c:pt>
                <c:pt idx="3">
                  <c:v>Heroin</c:v>
                </c:pt>
                <c:pt idx="4">
                  <c:v>Meth</c:v>
                </c:pt>
              </c:strCache>
            </c:strRef>
          </c:cat>
          <c:val>
            <c:numRef>
              <c:f>Sheet1!$C$2:$C$6</c:f>
              <c:numCache>
                <c:formatCode>General</c:formatCode>
                <c:ptCount val="5"/>
                <c:pt idx="0">
                  <c:v>3400</c:v>
                </c:pt>
                <c:pt idx="1">
                  <c:v>5800</c:v>
                </c:pt>
                <c:pt idx="2">
                  <c:v>1600</c:v>
                </c:pt>
                <c:pt idx="3">
                  <c:v>1100</c:v>
                </c:pt>
                <c:pt idx="4">
                  <c:v>1200</c:v>
                </c:pt>
              </c:numCache>
            </c:numRef>
          </c:val>
          <c:extLst>
            <c:ext xmlns:c16="http://schemas.microsoft.com/office/drawing/2014/chart" uri="{C3380CC4-5D6E-409C-BE32-E72D297353CC}">
              <c16:uniqueId val="{00000001-E3C1-6649-B8CD-DDF970949984}"/>
            </c:ext>
          </c:extLst>
        </c:ser>
        <c:ser>
          <c:idx val="2"/>
          <c:order val="2"/>
          <c:tx>
            <c:strRef>
              <c:f>Sheet1!$D$1</c:f>
              <c:strCache>
                <c:ptCount val="1"/>
                <c:pt idx="0">
                  <c:v>Cluster 3 — Lower Burden</c:v>
                </c:pt>
              </c:strCache>
            </c:strRef>
          </c:tx>
          <c:spPr>
            <a:solidFill>
              <a:srgbClr val="5A7ABF"/>
            </a:solidFill>
            <a:effectLst/>
          </c:spPr>
          <c:invertIfNegative val="0"/>
          <c:cat>
            <c:strRef>
              <c:f>Sheet1!$A$2:$A$6</c:f>
              <c:strCache>
                <c:ptCount val="5"/>
                <c:pt idx="0">
                  <c:v>Synthetic Opioids</c:v>
                </c:pt>
                <c:pt idx="1">
                  <c:v>All Opioids</c:v>
                </c:pt>
                <c:pt idx="2">
                  <c:v>Cocaine</c:v>
                </c:pt>
                <c:pt idx="3">
                  <c:v>Heroin</c:v>
                </c:pt>
                <c:pt idx="4">
                  <c:v>Meth</c:v>
                </c:pt>
              </c:strCache>
            </c:strRef>
          </c:cat>
          <c:val>
            <c:numRef>
              <c:f>Sheet1!$D$2:$D$6</c:f>
              <c:numCache>
                <c:formatCode>General</c:formatCode>
                <c:ptCount val="5"/>
                <c:pt idx="0">
                  <c:v>980</c:v>
                </c:pt>
                <c:pt idx="1">
                  <c:v>2100</c:v>
                </c:pt>
                <c:pt idx="2">
                  <c:v>620</c:v>
                </c:pt>
                <c:pt idx="3">
                  <c:v>490</c:v>
                </c:pt>
                <c:pt idx="4">
                  <c:v>540</c:v>
                </c:pt>
              </c:numCache>
            </c:numRef>
          </c:val>
          <c:extLst>
            <c:ext xmlns:c16="http://schemas.microsoft.com/office/drawing/2014/chart" uri="{C3380CC4-5D6E-409C-BE32-E72D297353CC}">
              <c16:uniqueId val="{00000002-E3C1-6649-B8CD-DDF970949984}"/>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900"/>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6097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(30 sec)
Introduce yourself. State the topic: U.S. drug overdose mortality analysis. Say what you will cover in 10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TABLE OF CONTENTS (20 sec)
Briefly walk through the 8 sections. Keep this under 20 seconds.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INTRODUCTION (45 sec)
106,699 deaths in 2021 — more than car crashes and guns combined. Three waves: prescriptions, heroin, then fentanyl. Goal: find patterns to direct resources where they are needed most.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DATA (30 sec)
CDC VSRR is the same source as the Kaggle notebook. total_deaths is the target — predicted in regression, REMOVED before clustering.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DATA WRANGLING (40 sec)
Walk through each function. case_when assigns regions and drug labels. group_by + summarize collapses monthly data to annual state totals. These are Class 2–3 fundamentals.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VISUALIZATION (60 sec)
Highlight the most interesting figures. Scatter shows deaths vs. pending rate. Facet_wrap shows regional variation. Stacked area reveals fentanyl's rising share.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TREND CHART (45 sec)
Synthetic opioids surpassed heroin after 2016 and are now the largest drug type. Heroin is actually declining. All-drugs total hit 107,000 in 2021. Created with geom_line() + geom_point().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REGRESSION (60 sec)
Three lm() models compared by Adjusted R². M3 best: 87% variance explained. Synthetic opioids strongest predictor. Appalachian indicator adds geographic context. Log transformation used because deaths are right-skewed.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CLUSTERING (60 sec)
Target REMOVED. scale() → NbClust() majority vote (k=3) → pam() — exact same workflow as foodnames and USArrests examples from class. Three clusters validated against actual deaths.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SPATIAL (50 sec)
Moran's I = 0.42, p &lt; 0.001. Deaths cluster geographically. High-High hotspots in the Appalachian corridor. Resources should concentrate in clustered hotspot areas.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RESULTS (40 sec)
Summarize each finding in one sentence.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CONCLUSION (40 sec)
End strong. Resources need to be targeted, not spread evenly.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ACKNOWLEDGEMENT (10 sec)
Read the acknowledgement statement clearly.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THANK YOU (10 sec)
Invite questions. Have the QMD open on screen so you can navigate to specific figures if asked.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D62"/>
        </a:solidFill>
        <a:effectLst/>
      </p:bgPr>
    </p:bg>
    <p:spTree>
      <p:nvGrpSpPr>
        <p:cNvPr id="1" name=""/>
        <p:cNvGrpSpPr/>
        <p:nvPr/>
      </p:nvGrpSpPr>
      <p:grpSpPr>
        <a:xfrm>
          <a:off x="0" y="0"/>
          <a:ext cx="0" cy="0"/>
          <a:chOff x="0" y="0"/>
          <a:chExt cx="0" cy="0"/>
        </a:xfrm>
      </p:grpSpPr>
      <p:sp>
        <p:nvSpPr>
          <p:cNvPr id="2" name="Shape 0"/>
          <p:cNvSpPr/>
          <p:nvPr/>
        </p:nvSpPr>
        <p:spPr>
          <a:xfrm>
            <a:off x="0" y="1417320"/>
            <a:ext cx="9144000" cy="54864"/>
          </a:xfrm>
          <a:prstGeom prst="rect">
            <a:avLst/>
          </a:prstGeom>
          <a:solidFill>
            <a:srgbClr val="D62728"/>
          </a:solidFill>
          <a:ln/>
        </p:spPr>
        <p:txBody>
          <a:bodyPr/>
          <a:lstStyle/>
          <a:p>
            <a:endParaRPr lang="en-US"/>
          </a:p>
        </p:txBody>
      </p:sp>
      <p:sp>
        <p:nvSpPr>
          <p:cNvPr id="3" name="Shape 1"/>
          <p:cNvSpPr/>
          <p:nvPr/>
        </p:nvSpPr>
        <p:spPr>
          <a:xfrm>
            <a:off x="0" y="3749040"/>
            <a:ext cx="9144000" cy="54864"/>
          </a:xfrm>
          <a:prstGeom prst="rect">
            <a:avLst/>
          </a:prstGeom>
          <a:solidFill>
            <a:srgbClr val="D6272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28600" y="137160"/>
            <a:ext cx="1188720" cy="1188720"/>
          </a:xfrm>
          <a:prstGeom prst="rect">
            <a:avLst/>
          </a:prstGeom>
        </p:spPr>
      </p:pic>
      <p:sp>
        <p:nvSpPr>
          <p:cNvPr id="5" name="Text 2"/>
          <p:cNvSpPr/>
          <p:nvPr/>
        </p:nvSpPr>
        <p:spPr>
          <a:xfrm>
            <a:off x="1600200" y="182880"/>
            <a:ext cx="7315200" cy="1097280"/>
          </a:xfrm>
          <a:prstGeom prst="rect">
            <a:avLst/>
          </a:prstGeom>
          <a:noFill/>
          <a:ln/>
        </p:spPr>
        <p:txBody>
          <a:bodyPr wrap="square" lIns="0" tIns="0" rIns="0" bIns="0"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U.S. Drug Overdose Mortality</a:t>
            </a:r>
            <a:endParaRPr lang="en-US" sz="3600" dirty="0"/>
          </a:p>
        </p:txBody>
      </p:sp>
      <p:sp>
        <p:nvSpPr>
          <p:cNvPr id="6" name="Text 3"/>
          <p:cNvSpPr/>
          <p:nvPr/>
        </p:nvSpPr>
        <p:spPr>
          <a:xfrm>
            <a:off x="457200" y="1508760"/>
            <a:ext cx="8229600" cy="475488"/>
          </a:xfrm>
          <a:prstGeom prst="rect">
            <a:avLst/>
          </a:prstGeom>
          <a:noFill/>
          <a:ln/>
        </p:spPr>
        <p:txBody>
          <a:bodyPr wrap="square" lIns="0" tIns="0" rIns="0" bIns="0" rtlCol="0" anchor="ctr"/>
          <a:lstStyle/>
          <a:p>
            <a:pPr marL="0" indent="0" algn="ctr">
              <a:buNone/>
            </a:pPr>
            <a:r>
              <a:rPr lang="en-US" sz="1600" i="1" dirty="0">
                <a:solidFill>
                  <a:srgbClr val="F5D060"/>
                </a:solidFill>
                <a:latin typeface="Calibri" pitchFamily="34" charset="0"/>
                <a:ea typeface="Calibri" pitchFamily="34" charset="-122"/>
                <a:cs typeface="Calibri" pitchFamily="34" charset="-120"/>
              </a:rPr>
              <a:t>Geographic, Demographic, Socioeconomic &amp; Behavioral Drivers</a:t>
            </a:r>
            <a:endParaRPr lang="en-US" sz="1600" dirty="0"/>
          </a:p>
        </p:txBody>
      </p:sp>
      <p:sp>
        <p:nvSpPr>
          <p:cNvPr id="7" name="Text 4"/>
          <p:cNvSpPr/>
          <p:nvPr/>
        </p:nvSpPr>
        <p:spPr>
          <a:xfrm>
            <a:off x="457200" y="3858768"/>
            <a:ext cx="8229600" cy="914400"/>
          </a:xfrm>
          <a:prstGeom prst="rect">
            <a:avLst/>
          </a:prstGeom>
          <a:noFill/>
          <a:ln/>
        </p:spPr>
        <p:txBody>
          <a:bodyPr wrap="square" lIns="0" tIns="0" rIns="0" bIns="0" rtlCol="0" anchor="ctr"/>
          <a:lstStyle/>
          <a:p>
            <a:pPr marL="0" indent="0" algn="ctr">
              <a:buNone/>
            </a:pPr>
            <a:r>
              <a:rPr lang="en-US" sz="1300" dirty="0">
                <a:solidFill>
                  <a:srgbClr val="CADCFC"/>
                </a:solidFill>
                <a:latin typeface="Calibri" pitchFamily="34" charset="0"/>
                <a:ea typeface="Calibri" pitchFamily="34" charset="-122"/>
                <a:cs typeface="Calibri" pitchFamily="34" charset="-120"/>
              </a:rPr>
              <a:t>Presenter: Mohamed Haji</a:t>
            </a:r>
            <a:endParaRPr lang="en-US" sz="1300" dirty="0"/>
          </a:p>
          <a:p>
            <a:pPr marL="0" indent="0" algn="ctr">
              <a:buNone/>
            </a:pPr>
            <a:r>
              <a:rPr lang="en-US" sz="1300" dirty="0">
                <a:solidFill>
                  <a:srgbClr val="CADCFC"/>
                </a:solidFill>
                <a:latin typeface="Calibri" pitchFamily="34" charset="0"/>
                <a:ea typeface="Calibri" pitchFamily="34" charset="-122"/>
                <a:cs typeface="Calibri" pitchFamily="34" charset="-120"/>
              </a:rPr>
              <a:t>DS7130 / DS7310  |  Dr. Amir Karami  |  Kennesaw State University</a:t>
            </a:r>
            <a:endParaRPr lang="en-US" sz="1300" dirty="0"/>
          </a:p>
          <a:p>
            <a:pPr marL="0" indent="0" algn="ctr">
              <a:buNone/>
            </a:pPr>
            <a:r>
              <a:rPr lang="en-US" sz="1300" dirty="0">
                <a:solidFill>
                  <a:srgbClr val="CADCFC"/>
                </a:solidFill>
                <a:latin typeface="Calibri" pitchFamily="34" charset="0"/>
                <a:ea typeface="Calibri" pitchFamily="34" charset="-122"/>
                <a:cs typeface="Calibri" pitchFamily="34" charset="-120"/>
              </a:rPr>
              <a:t>April 2025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02D62"/>
          </a:solidFill>
          <a:ln/>
        </p:spPr>
        <p:txBody>
          <a:bodyPr/>
          <a:lstStyle/>
          <a:p>
            <a:endParaRPr lang="en-US"/>
          </a:p>
        </p:txBody>
      </p:sp>
      <p:sp>
        <p:nvSpPr>
          <p:cNvPr id="3" name="Text 1"/>
          <p:cNvSpPr/>
          <p:nvPr/>
        </p:nvSpPr>
        <p:spPr>
          <a:xfrm>
            <a:off x="320040" y="45720"/>
            <a:ext cx="850392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Table of Contents</a:t>
            </a:r>
            <a:endParaRPr lang="en-US" sz="2000" dirty="0"/>
          </a:p>
        </p:txBody>
      </p:sp>
      <p:sp>
        <p:nvSpPr>
          <p:cNvPr id="4" name="Shape 2"/>
          <p:cNvSpPr/>
          <p:nvPr/>
        </p:nvSpPr>
        <p:spPr>
          <a:xfrm>
            <a:off x="0" y="594360"/>
            <a:ext cx="64008" cy="4549140"/>
          </a:xfrm>
          <a:prstGeom prst="rect">
            <a:avLst/>
          </a:prstGeom>
          <a:solidFill>
            <a:srgbClr val="DAAA00"/>
          </a:solidFill>
          <a:ln/>
        </p:spPr>
        <p:txBody>
          <a:bodyPr/>
          <a:lstStyle/>
          <a:p>
            <a:endParaRPr lang="en-US"/>
          </a:p>
        </p:txBody>
      </p:sp>
      <p:sp>
        <p:nvSpPr>
          <p:cNvPr id="5" name="Shape 3"/>
          <p:cNvSpPr/>
          <p:nvPr/>
        </p:nvSpPr>
        <p:spPr>
          <a:xfrm>
            <a:off x="320040" y="868680"/>
            <a:ext cx="411480" cy="411480"/>
          </a:xfrm>
          <a:prstGeom prst="ellipse">
            <a:avLst/>
          </a:prstGeom>
          <a:solidFill>
            <a:srgbClr val="002D62"/>
          </a:solidFill>
          <a:ln/>
        </p:spPr>
        <p:txBody>
          <a:bodyPr/>
          <a:lstStyle/>
          <a:p>
            <a:endParaRPr lang="en-US"/>
          </a:p>
        </p:txBody>
      </p:sp>
      <p:sp>
        <p:nvSpPr>
          <p:cNvPr id="6" name="Text 4"/>
          <p:cNvSpPr/>
          <p:nvPr/>
        </p:nvSpPr>
        <p:spPr>
          <a:xfrm>
            <a:off x="320040" y="868680"/>
            <a:ext cx="41148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7" name="Text 5"/>
          <p:cNvSpPr/>
          <p:nvPr/>
        </p:nvSpPr>
        <p:spPr>
          <a:xfrm>
            <a:off x="822960" y="850392"/>
            <a:ext cx="3749040" cy="292608"/>
          </a:xfrm>
          <a:prstGeom prst="rect">
            <a:avLst/>
          </a:prstGeom>
          <a:noFill/>
          <a:ln/>
        </p:spPr>
        <p:txBody>
          <a:bodyPr wrap="square" lIns="0" tIns="0" rIns="0" bIns="0" rtlCol="0" anchor="ctr"/>
          <a:lstStyle/>
          <a:p>
            <a:pPr marL="0" indent="0">
              <a:buNone/>
            </a:pPr>
            <a:r>
              <a:rPr lang="en-US" sz="1300" b="1" dirty="0">
                <a:solidFill>
                  <a:srgbClr val="002D62"/>
                </a:solidFill>
                <a:latin typeface="Calibri" pitchFamily="34" charset="0"/>
                <a:ea typeface="Calibri" pitchFamily="34" charset="-122"/>
                <a:cs typeface="Calibri" pitchFamily="34" charset="-120"/>
              </a:rPr>
              <a:t>Introduction</a:t>
            </a:r>
            <a:endParaRPr lang="en-US" sz="1300" dirty="0"/>
          </a:p>
        </p:txBody>
      </p:sp>
      <p:sp>
        <p:nvSpPr>
          <p:cNvPr id="8" name="Text 6"/>
          <p:cNvSpPr/>
          <p:nvPr/>
        </p:nvSpPr>
        <p:spPr>
          <a:xfrm>
            <a:off x="822960" y="1161288"/>
            <a:ext cx="3749040" cy="2286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Why drug overdose data matters — scale &amp; motivation</a:t>
            </a:r>
            <a:endParaRPr lang="en-US" sz="1000" dirty="0"/>
          </a:p>
        </p:txBody>
      </p:sp>
      <p:sp>
        <p:nvSpPr>
          <p:cNvPr id="9" name="Shape 7"/>
          <p:cNvSpPr/>
          <p:nvPr/>
        </p:nvSpPr>
        <p:spPr>
          <a:xfrm>
            <a:off x="320040" y="1874520"/>
            <a:ext cx="411480" cy="411480"/>
          </a:xfrm>
          <a:prstGeom prst="ellipse">
            <a:avLst/>
          </a:prstGeom>
          <a:solidFill>
            <a:srgbClr val="002D62"/>
          </a:solidFill>
          <a:ln/>
        </p:spPr>
        <p:txBody>
          <a:bodyPr/>
          <a:lstStyle/>
          <a:p>
            <a:endParaRPr lang="en-US"/>
          </a:p>
        </p:txBody>
      </p:sp>
      <p:sp>
        <p:nvSpPr>
          <p:cNvPr id="10" name="Text 8"/>
          <p:cNvSpPr/>
          <p:nvPr/>
        </p:nvSpPr>
        <p:spPr>
          <a:xfrm>
            <a:off x="320040" y="1874520"/>
            <a:ext cx="41148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11" name="Text 9"/>
          <p:cNvSpPr/>
          <p:nvPr/>
        </p:nvSpPr>
        <p:spPr>
          <a:xfrm>
            <a:off x="822960" y="1856232"/>
            <a:ext cx="3749040" cy="292608"/>
          </a:xfrm>
          <a:prstGeom prst="rect">
            <a:avLst/>
          </a:prstGeom>
          <a:noFill/>
          <a:ln/>
        </p:spPr>
        <p:txBody>
          <a:bodyPr wrap="square" lIns="0" tIns="0" rIns="0" bIns="0" rtlCol="0" anchor="ctr"/>
          <a:lstStyle/>
          <a:p>
            <a:pPr marL="0" indent="0">
              <a:buNone/>
            </a:pPr>
            <a:r>
              <a:rPr lang="en-US" sz="1300" b="1" dirty="0">
                <a:solidFill>
                  <a:srgbClr val="002D62"/>
                </a:solidFill>
                <a:latin typeface="Calibri" pitchFamily="34" charset="0"/>
                <a:ea typeface="Calibri" pitchFamily="34" charset="-122"/>
                <a:cs typeface="Calibri" pitchFamily="34" charset="-120"/>
              </a:rPr>
              <a:t>Data</a:t>
            </a:r>
            <a:endParaRPr lang="en-US" sz="1300" dirty="0"/>
          </a:p>
        </p:txBody>
      </p:sp>
      <p:sp>
        <p:nvSpPr>
          <p:cNvPr id="12" name="Text 10"/>
          <p:cNvSpPr/>
          <p:nvPr/>
        </p:nvSpPr>
        <p:spPr>
          <a:xfrm>
            <a:off x="822960" y="2167128"/>
            <a:ext cx="3749040" cy="2286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CDC VSRR — source, variables &amp; dictionary</a:t>
            </a:r>
            <a:endParaRPr lang="en-US" sz="1000" dirty="0"/>
          </a:p>
        </p:txBody>
      </p:sp>
      <p:sp>
        <p:nvSpPr>
          <p:cNvPr id="13" name="Shape 11"/>
          <p:cNvSpPr/>
          <p:nvPr/>
        </p:nvSpPr>
        <p:spPr>
          <a:xfrm>
            <a:off x="320040" y="2880360"/>
            <a:ext cx="411480" cy="411480"/>
          </a:xfrm>
          <a:prstGeom prst="ellipse">
            <a:avLst/>
          </a:prstGeom>
          <a:solidFill>
            <a:srgbClr val="002D62"/>
          </a:solidFill>
          <a:ln/>
        </p:spPr>
        <p:txBody>
          <a:bodyPr/>
          <a:lstStyle/>
          <a:p>
            <a:endParaRPr lang="en-US"/>
          </a:p>
        </p:txBody>
      </p:sp>
      <p:sp>
        <p:nvSpPr>
          <p:cNvPr id="14" name="Text 12"/>
          <p:cNvSpPr/>
          <p:nvPr/>
        </p:nvSpPr>
        <p:spPr>
          <a:xfrm>
            <a:off x="320040" y="2880360"/>
            <a:ext cx="41148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15" name="Text 13"/>
          <p:cNvSpPr/>
          <p:nvPr/>
        </p:nvSpPr>
        <p:spPr>
          <a:xfrm>
            <a:off x="822960" y="2862072"/>
            <a:ext cx="3749040" cy="292608"/>
          </a:xfrm>
          <a:prstGeom prst="rect">
            <a:avLst/>
          </a:prstGeom>
          <a:noFill/>
          <a:ln/>
        </p:spPr>
        <p:txBody>
          <a:bodyPr wrap="square" lIns="0" tIns="0" rIns="0" bIns="0" rtlCol="0" anchor="ctr"/>
          <a:lstStyle/>
          <a:p>
            <a:pPr marL="0" indent="0">
              <a:buNone/>
            </a:pPr>
            <a:r>
              <a:rPr lang="en-US" sz="1300" b="1" dirty="0">
                <a:solidFill>
                  <a:srgbClr val="002D62"/>
                </a:solidFill>
                <a:latin typeface="Calibri" pitchFamily="34" charset="0"/>
                <a:ea typeface="Calibri" pitchFamily="34" charset="-122"/>
                <a:cs typeface="Calibri" pitchFamily="34" charset="-120"/>
              </a:rPr>
              <a:t>Data Wrangling</a:t>
            </a:r>
            <a:endParaRPr lang="en-US" sz="1300" dirty="0"/>
          </a:p>
        </p:txBody>
      </p:sp>
      <p:sp>
        <p:nvSpPr>
          <p:cNvPr id="16" name="Text 14"/>
          <p:cNvSpPr/>
          <p:nvPr/>
        </p:nvSpPr>
        <p:spPr>
          <a:xfrm>
            <a:off x="822960" y="3172968"/>
            <a:ext cx="3749040" cy="2286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filter, mutate, case_when, summarize, count</a:t>
            </a:r>
            <a:endParaRPr lang="en-US" sz="1000" dirty="0"/>
          </a:p>
        </p:txBody>
      </p:sp>
      <p:sp>
        <p:nvSpPr>
          <p:cNvPr id="17" name="Shape 15"/>
          <p:cNvSpPr/>
          <p:nvPr/>
        </p:nvSpPr>
        <p:spPr>
          <a:xfrm>
            <a:off x="320040" y="3886200"/>
            <a:ext cx="411480" cy="411480"/>
          </a:xfrm>
          <a:prstGeom prst="ellipse">
            <a:avLst/>
          </a:prstGeom>
          <a:solidFill>
            <a:srgbClr val="002D62"/>
          </a:solidFill>
          <a:ln/>
        </p:spPr>
        <p:txBody>
          <a:bodyPr/>
          <a:lstStyle/>
          <a:p>
            <a:endParaRPr lang="en-US"/>
          </a:p>
        </p:txBody>
      </p:sp>
      <p:sp>
        <p:nvSpPr>
          <p:cNvPr id="18" name="Text 16"/>
          <p:cNvSpPr/>
          <p:nvPr/>
        </p:nvSpPr>
        <p:spPr>
          <a:xfrm>
            <a:off x="320040" y="3886200"/>
            <a:ext cx="41148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19" name="Text 17"/>
          <p:cNvSpPr/>
          <p:nvPr/>
        </p:nvSpPr>
        <p:spPr>
          <a:xfrm>
            <a:off x="822960" y="3867912"/>
            <a:ext cx="3749040" cy="292608"/>
          </a:xfrm>
          <a:prstGeom prst="rect">
            <a:avLst/>
          </a:prstGeom>
          <a:noFill/>
          <a:ln/>
        </p:spPr>
        <p:txBody>
          <a:bodyPr wrap="square" lIns="0" tIns="0" rIns="0" bIns="0" rtlCol="0" anchor="ctr"/>
          <a:lstStyle/>
          <a:p>
            <a:pPr marL="0" indent="0">
              <a:buNone/>
            </a:pPr>
            <a:r>
              <a:rPr lang="en-US" sz="1300" b="1" dirty="0">
                <a:solidFill>
                  <a:srgbClr val="002D62"/>
                </a:solidFill>
                <a:latin typeface="Calibri" pitchFamily="34" charset="0"/>
                <a:ea typeface="Calibri" pitchFamily="34" charset="-122"/>
                <a:cs typeface="Calibri" pitchFamily="34" charset="-120"/>
              </a:rPr>
              <a:t>Data Visualization</a:t>
            </a:r>
            <a:endParaRPr lang="en-US" sz="1300" dirty="0"/>
          </a:p>
        </p:txBody>
      </p:sp>
      <p:sp>
        <p:nvSpPr>
          <p:cNvPr id="20" name="Text 18"/>
          <p:cNvSpPr/>
          <p:nvPr/>
        </p:nvSpPr>
        <p:spPr>
          <a:xfrm>
            <a:off x="822960" y="4178808"/>
            <a:ext cx="3749040" cy="2286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10+ ggplot2 figures exploring patterns &amp; trends</a:t>
            </a:r>
            <a:endParaRPr lang="en-US" sz="1000" dirty="0"/>
          </a:p>
        </p:txBody>
      </p:sp>
      <p:sp>
        <p:nvSpPr>
          <p:cNvPr id="21" name="Shape 19"/>
          <p:cNvSpPr/>
          <p:nvPr/>
        </p:nvSpPr>
        <p:spPr>
          <a:xfrm>
            <a:off x="4754880" y="868680"/>
            <a:ext cx="411480" cy="411480"/>
          </a:xfrm>
          <a:prstGeom prst="ellipse">
            <a:avLst/>
          </a:prstGeom>
          <a:solidFill>
            <a:srgbClr val="002D62"/>
          </a:solidFill>
          <a:ln/>
        </p:spPr>
        <p:txBody>
          <a:bodyPr/>
          <a:lstStyle/>
          <a:p>
            <a:endParaRPr lang="en-US"/>
          </a:p>
        </p:txBody>
      </p:sp>
      <p:sp>
        <p:nvSpPr>
          <p:cNvPr id="22" name="Text 20"/>
          <p:cNvSpPr/>
          <p:nvPr/>
        </p:nvSpPr>
        <p:spPr>
          <a:xfrm>
            <a:off x="4754880" y="868680"/>
            <a:ext cx="41148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23" name="Text 21"/>
          <p:cNvSpPr/>
          <p:nvPr/>
        </p:nvSpPr>
        <p:spPr>
          <a:xfrm>
            <a:off x="5257800" y="850392"/>
            <a:ext cx="3749040" cy="292608"/>
          </a:xfrm>
          <a:prstGeom prst="rect">
            <a:avLst/>
          </a:prstGeom>
          <a:noFill/>
          <a:ln/>
        </p:spPr>
        <p:txBody>
          <a:bodyPr wrap="square" lIns="0" tIns="0" rIns="0" bIns="0" rtlCol="0" anchor="ctr"/>
          <a:lstStyle/>
          <a:p>
            <a:pPr marL="0" indent="0">
              <a:buNone/>
            </a:pPr>
            <a:r>
              <a:rPr lang="en-US" sz="1300" b="1" dirty="0">
                <a:solidFill>
                  <a:srgbClr val="002D62"/>
                </a:solidFill>
                <a:latin typeface="Calibri" pitchFamily="34" charset="0"/>
                <a:ea typeface="Calibri" pitchFamily="34" charset="-122"/>
                <a:cs typeface="Calibri" pitchFamily="34" charset="-120"/>
              </a:rPr>
              <a:t>Regression Modeling</a:t>
            </a:r>
            <a:endParaRPr lang="en-US" sz="1300" dirty="0"/>
          </a:p>
        </p:txBody>
      </p:sp>
      <p:sp>
        <p:nvSpPr>
          <p:cNvPr id="24" name="Text 22"/>
          <p:cNvSpPr/>
          <p:nvPr/>
        </p:nvSpPr>
        <p:spPr>
          <a:xfrm>
            <a:off x="5257800" y="1161288"/>
            <a:ext cx="3749040" cy="2286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lm() — predicting log(deaths), model comparison</a:t>
            </a:r>
            <a:endParaRPr lang="en-US" sz="1000" dirty="0"/>
          </a:p>
        </p:txBody>
      </p:sp>
      <p:sp>
        <p:nvSpPr>
          <p:cNvPr id="25" name="Shape 23"/>
          <p:cNvSpPr/>
          <p:nvPr/>
        </p:nvSpPr>
        <p:spPr>
          <a:xfrm>
            <a:off x="4754880" y="1874520"/>
            <a:ext cx="411480" cy="411480"/>
          </a:xfrm>
          <a:prstGeom prst="ellipse">
            <a:avLst/>
          </a:prstGeom>
          <a:solidFill>
            <a:srgbClr val="002D62"/>
          </a:solidFill>
          <a:ln/>
        </p:spPr>
        <p:txBody>
          <a:bodyPr/>
          <a:lstStyle/>
          <a:p>
            <a:endParaRPr lang="en-US"/>
          </a:p>
        </p:txBody>
      </p:sp>
      <p:sp>
        <p:nvSpPr>
          <p:cNvPr id="26" name="Text 24"/>
          <p:cNvSpPr/>
          <p:nvPr/>
        </p:nvSpPr>
        <p:spPr>
          <a:xfrm>
            <a:off x="4754880" y="1874520"/>
            <a:ext cx="41148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06</a:t>
            </a:r>
            <a:endParaRPr lang="en-US" sz="1000" dirty="0"/>
          </a:p>
        </p:txBody>
      </p:sp>
      <p:sp>
        <p:nvSpPr>
          <p:cNvPr id="27" name="Text 25"/>
          <p:cNvSpPr/>
          <p:nvPr/>
        </p:nvSpPr>
        <p:spPr>
          <a:xfrm>
            <a:off x="5257800" y="1856232"/>
            <a:ext cx="3749040" cy="292608"/>
          </a:xfrm>
          <a:prstGeom prst="rect">
            <a:avLst/>
          </a:prstGeom>
          <a:noFill/>
          <a:ln/>
        </p:spPr>
        <p:txBody>
          <a:bodyPr wrap="square" lIns="0" tIns="0" rIns="0" bIns="0" rtlCol="0" anchor="ctr"/>
          <a:lstStyle/>
          <a:p>
            <a:pPr marL="0" indent="0">
              <a:buNone/>
            </a:pPr>
            <a:r>
              <a:rPr lang="en-US" sz="1300" b="1" dirty="0">
                <a:solidFill>
                  <a:srgbClr val="002D62"/>
                </a:solidFill>
                <a:latin typeface="Calibri" pitchFamily="34" charset="0"/>
                <a:ea typeface="Calibri" pitchFamily="34" charset="-122"/>
                <a:cs typeface="Calibri" pitchFamily="34" charset="-120"/>
              </a:rPr>
              <a:t>Cluster Analysis</a:t>
            </a:r>
            <a:endParaRPr lang="en-US" sz="1300" dirty="0"/>
          </a:p>
        </p:txBody>
      </p:sp>
      <p:sp>
        <p:nvSpPr>
          <p:cNvPr id="28" name="Text 26"/>
          <p:cNvSpPr/>
          <p:nvPr/>
        </p:nvSpPr>
        <p:spPr>
          <a:xfrm>
            <a:off x="5257800" y="2167128"/>
            <a:ext cx="3749040" cy="2286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pam() + NbClust — state risk profiles (target removed)</a:t>
            </a:r>
            <a:endParaRPr lang="en-US" sz="1000" dirty="0"/>
          </a:p>
        </p:txBody>
      </p:sp>
      <p:sp>
        <p:nvSpPr>
          <p:cNvPr id="29" name="Shape 27"/>
          <p:cNvSpPr/>
          <p:nvPr/>
        </p:nvSpPr>
        <p:spPr>
          <a:xfrm>
            <a:off x="4754880" y="2880360"/>
            <a:ext cx="411480" cy="411480"/>
          </a:xfrm>
          <a:prstGeom prst="ellipse">
            <a:avLst/>
          </a:prstGeom>
          <a:solidFill>
            <a:srgbClr val="002D62"/>
          </a:solidFill>
          <a:ln/>
        </p:spPr>
        <p:txBody>
          <a:bodyPr/>
          <a:lstStyle/>
          <a:p>
            <a:endParaRPr lang="en-US"/>
          </a:p>
        </p:txBody>
      </p:sp>
      <p:sp>
        <p:nvSpPr>
          <p:cNvPr id="30" name="Text 28"/>
          <p:cNvSpPr/>
          <p:nvPr/>
        </p:nvSpPr>
        <p:spPr>
          <a:xfrm>
            <a:off x="4754880" y="2880360"/>
            <a:ext cx="41148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07</a:t>
            </a:r>
            <a:endParaRPr lang="en-US" sz="1000" dirty="0"/>
          </a:p>
        </p:txBody>
      </p:sp>
      <p:sp>
        <p:nvSpPr>
          <p:cNvPr id="31" name="Text 29"/>
          <p:cNvSpPr/>
          <p:nvPr/>
        </p:nvSpPr>
        <p:spPr>
          <a:xfrm>
            <a:off x="5257800" y="2862072"/>
            <a:ext cx="3749040" cy="292608"/>
          </a:xfrm>
          <a:prstGeom prst="rect">
            <a:avLst/>
          </a:prstGeom>
          <a:noFill/>
          <a:ln/>
        </p:spPr>
        <p:txBody>
          <a:bodyPr wrap="square" lIns="0" tIns="0" rIns="0" bIns="0" rtlCol="0" anchor="ctr"/>
          <a:lstStyle/>
          <a:p>
            <a:pPr marL="0" indent="0">
              <a:buNone/>
            </a:pPr>
            <a:r>
              <a:rPr lang="en-US" sz="1300" b="1" dirty="0">
                <a:solidFill>
                  <a:srgbClr val="002D62"/>
                </a:solidFill>
                <a:latin typeface="Calibri" pitchFamily="34" charset="0"/>
                <a:ea typeface="Calibri" pitchFamily="34" charset="-122"/>
                <a:cs typeface="Calibri" pitchFamily="34" charset="-120"/>
              </a:rPr>
              <a:t>Spatial Analysis</a:t>
            </a:r>
            <a:endParaRPr lang="en-US" sz="1300" dirty="0"/>
          </a:p>
        </p:txBody>
      </p:sp>
      <p:sp>
        <p:nvSpPr>
          <p:cNvPr id="32" name="Text 30"/>
          <p:cNvSpPr/>
          <p:nvPr/>
        </p:nvSpPr>
        <p:spPr>
          <a:xfrm>
            <a:off x="5257800" y="3172968"/>
            <a:ext cx="3749040" cy="2286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Moran's I + LISA hotspot cluster maps</a:t>
            </a:r>
            <a:endParaRPr lang="en-US" sz="1000" dirty="0"/>
          </a:p>
        </p:txBody>
      </p:sp>
      <p:sp>
        <p:nvSpPr>
          <p:cNvPr id="33" name="Shape 31"/>
          <p:cNvSpPr/>
          <p:nvPr/>
        </p:nvSpPr>
        <p:spPr>
          <a:xfrm>
            <a:off x="4754880" y="3886200"/>
            <a:ext cx="411480" cy="411480"/>
          </a:xfrm>
          <a:prstGeom prst="ellipse">
            <a:avLst/>
          </a:prstGeom>
          <a:solidFill>
            <a:srgbClr val="002D62"/>
          </a:solidFill>
          <a:ln/>
        </p:spPr>
        <p:txBody>
          <a:bodyPr/>
          <a:lstStyle/>
          <a:p>
            <a:endParaRPr lang="en-US"/>
          </a:p>
        </p:txBody>
      </p:sp>
      <p:sp>
        <p:nvSpPr>
          <p:cNvPr id="34" name="Text 32"/>
          <p:cNvSpPr/>
          <p:nvPr/>
        </p:nvSpPr>
        <p:spPr>
          <a:xfrm>
            <a:off x="4754880" y="3886200"/>
            <a:ext cx="41148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08</a:t>
            </a:r>
            <a:endParaRPr lang="en-US" sz="1000" dirty="0"/>
          </a:p>
        </p:txBody>
      </p:sp>
      <p:sp>
        <p:nvSpPr>
          <p:cNvPr id="35" name="Text 33"/>
          <p:cNvSpPr/>
          <p:nvPr/>
        </p:nvSpPr>
        <p:spPr>
          <a:xfrm>
            <a:off x="5257800" y="3867912"/>
            <a:ext cx="3749040" cy="292608"/>
          </a:xfrm>
          <a:prstGeom prst="rect">
            <a:avLst/>
          </a:prstGeom>
          <a:noFill/>
          <a:ln/>
        </p:spPr>
        <p:txBody>
          <a:bodyPr wrap="square" lIns="0" tIns="0" rIns="0" bIns="0" rtlCol="0" anchor="ctr"/>
          <a:lstStyle/>
          <a:p>
            <a:pPr marL="0" indent="0">
              <a:buNone/>
            </a:pPr>
            <a:r>
              <a:rPr lang="en-US" sz="1300" b="1" dirty="0">
                <a:solidFill>
                  <a:srgbClr val="002D62"/>
                </a:solidFill>
                <a:latin typeface="Calibri" pitchFamily="34" charset="0"/>
                <a:ea typeface="Calibri" pitchFamily="34" charset="-122"/>
                <a:cs typeface="Calibri" pitchFamily="34" charset="-120"/>
              </a:rPr>
              <a:t>Results &amp; Conclusion</a:t>
            </a:r>
            <a:endParaRPr lang="en-US" sz="1300" dirty="0"/>
          </a:p>
        </p:txBody>
      </p:sp>
      <p:sp>
        <p:nvSpPr>
          <p:cNvPr id="36" name="Text 34"/>
          <p:cNvSpPr/>
          <p:nvPr/>
        </p:nvSpPr>
        <p:spPr>
          <a:xfrm>
            <a:off x="5257800" y="4178808"/>
            <a:ext cx="3749040" cy="2286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Key findings, policy recommendations, acknowledgement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02D62"/>
          </a:solidFill>
          <a:ln/>
        </p:spPr>
        <p:txBody>
          <a:bodyPr/>
          <a:lstStyle/>
          <a:p>
            <a:endParaRPr lang="en-US"/>
          </a:p>
        </p:txBody>
      </p:sp>
      <p:sp>
        <p:nvSpPr>
          <p:cNvPr id="3" name="Text 1"/>
          <p:cNvSpPr/>
          <p:nvPr/>
        </p:nvSpPr>
        <p:spPr>
          <a:xfrm>
            <a:off x="320040" y="45720"/>
            <a:ext cx="850392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Introduction — Why This Project Matters</a:t>
            </a:r>
            <a:endParaRPr lang="en-US" sz="2000" dirty="0"/>
          </a:p>
        </p:txBody>
      </p:sp>
      <p:sp>
        <p:nvSpPr>
          <p:cNvPr id="4" name="Shape 2"/>
          <p:cNvSpPr/>
          <p:nvPr/>
        </p:nvSpPr>
        <p:spPr>
          <a:xfrm>
            <a:off x="0" y="594360"/>
            <a:ext cx="64008" cy="4549140"/>
          </a:xfrm>
          <a:prstGeom prst="rect">
            <a:avLst/>
          </a:prstGeom>
          <a:solidFill>
            <a:srgbClr val="DAAA00"/>
          </a:solidFill>
          <a:ln/>
        </p:spPr>
        <p:txBody>
          <a:bodyPr/>
          <a:lstStyle/>
          <a:p>
            <a:endParaRPr lang="en-US"/>
          </a:p>
        </p:txBody>
      </p:sp>
      <p:sp>
        <p:nvSpPr>
          <p:cNvPr id="5" name="Shape 3"/>
          <p:cNvSpPr/>
          <p:nvPr/>
        </p:nvSpPr>
        <p:spPr>
          <a:xfrm>
            <a:off x="320040" y="749808"/>
            <a:ext cx="1920240" cy="1188720"/>
          </a:xfrm>
          <a:prstGeom prst="rect">
            <a:avLst/>
          </a:prstGeom>
          <a:solidFill>
            <a:srgbClr val="D62728"/>
          </a:solidFill>
          <a:ln/>
          <a:effectLst>
            <a:outerShdw blurRad="76200" dist="38100" dir="8100000" algn="bl" rotWithShape="0">
              <a:srgbClr val="000000">
                <a:alpha val="12000"/>
              </a:srgbClr>
            </a:outerShdw>
          </a:effectLst>
        </p:spPr>
        <p:txBody>
          <a:bodyPr/>
          <a:lstStyle/>
          <a:p>
            <a:endParaRPr lang="en-US"/>
          </a:p>
        </p:txBody>
      </p:sp>
      <p:sp>
        <p:nvSpPr>
          <p:cNvPr id="6" name="Text 4"/>
          <p:cNvSpPr/>
          <p:nvPr/>
        </p:nvSpPr>
        <p:spPr>
          <a:xfrm>
            <a:off x="411480" y="859536"/>
            <a:ext cx="1737360" cy="653796"/>
          </a:xfrm>
          <a:prstGeom prst="rect">
            <a:avLst/>
          </a:prstGeom>
          <a:noFill/>
          <a:ln/>
        </p:spPr>
        <p:txBody>
          <a:bodyPr wrap="square" lIns="0" tIns="0" rIns="0" bIns="0" rtlCol="0" anchor="b"/>
          <a:lstStyle/>
          <a:p>
            <a:pPr marL="0" indent="0" algn="ctr">
              <a:buNone/>
            </a:pPr>
            <a:r>
              <a:rPr lang="en-US" sz="2800" b="1" dirty="0">
                <a:solidFill>
                  <a:srgbClr val="FFFFFF"/>
                </a:solidFill>
                <a:latin typeface="Calibri" pitchFamily="34" charset="0"/>
                <a:ea typeface="Calibri" pitchFamily="34" charset="-122"/>
                <a:cs typeface="Calibri" pitchFamily="34" charset="-120"/>
              </a:rPr>
              <a:t>106,699</a:t>
            </a:r>
            <a:endParaRPr lang="en-US" sz="2800" dirty="0"/>
          </a:p>
        </p:txBody>
      </p:sp>
      <p:sp>
        <p:nvSpPr>
          <p:cNvPr id="7" name="Text 5"/>
          <p:cNvSpPr/>
          <p:nvPr/>
        </p:nvSpPr>
        <p:spPr>
          <a:xfrm>
            <a:off x="393192" y="1486814"/>
            <a:ext cx="1773936" cy="451714"/>
          </a:xfrm>
          <a:prstGeom prst="rect">
            <a:avLst/>
          </a:prstGeom>
          <a:noFill/>
          <a:ln/>
        </p:spPr>
        <p:txBody>
          <a:bodyPr wrap="square" lIns="0" tIns="0" rIns="0" bIns="0" rtlCol="0" anchor="t"/>
          <a:lstStyle/>
          <a:p>
            <a:pPr marL="0" indent="0" algn="ctr">
              <a:buNone/>
            </a:pPr>
            <a:r>
              <a:rPr lang="en-US" sz="1000" dirty="0">
                <a:solidFill>
                  <a:srgbClr val="E8EEF7"/>
                </a:solidFill>
                <a:latin typeface="Calibri" pitchFamily="34" charset="0"/>
                <a:ea typeface="Calibri" pitchFamily="34" charset="-122"/>
                <a:cs typeface="Calibri" pitchFamily="34" charset="-120"/>
              </a:rPr>
              <a:t>Deaths in 2021</a:t>
            </a:r>
            <a:endParaRPr lang="en-US" sz="1000" dirty="0"/>
          </a:p>
          <a:p>
            <a:pPr marL="0" indent="0" algn="ctr">
              <a:buNone/>
            </a:pPr>
            <a:r>
              <a:rPr lang="en-US" sz="1000" dirty="0">
                <a:solidFill>
                  <a:srgbClr val="E8EEF7"/>
                </a:solidFill>
                <a:latin typeface="Calibri" pitchFamily="34" charset="0"/>
                <a:ea typeface="Calibri" pitchFamily="34" charset="-122"/>
                <a:cs typeface="Calibri" pitchFamily="34" charset="-120"/>
              </a:rPr>
              <a:t>(all-time record)</a:t>
            </a:r>
            <a:endParaRPr lang="en-US" sz="1000" dirty="0"/>
          </a:p>
        </p:txBody>
      </p:sp>
      <p:sp>
        <p:nvSpPr>
          <p:cNvPr id="8" name="Shape 6"/>
          <p:cNvSpPr/>
          <p:nvPr/>
        </p:nvSpPr>
        <p:spPr>
          <a:xfrm>
            <a:off x="2377440" y="749808"/>
            <a:ext cx="1920240" cy="1188720"/>
          </a:xfrm>
          <a:prstGeom prst="rect">
            <a:avLst/>
          </a:prstGeom>
          <a:solidFill>
            <a:srgbClr val="002D62"/>
          </a:solidFill>
          <a:ln/>
          <a:effectLst>
            <a:outerShdw blurRad="76200" dist="38100" dir="8100000" algn="bl" rotWithShape="0">
              <a:srgbClr val="000000">
                <a:alpha val="12000"/>
              </a:srgbClr>
            </a:outerShdw>
          </a:effectLst>
        </p:spPr>
        <p:txBody>
          <a:bodyPr/>
          <a:lstStyle/>
          <a:p>
            <a:endParaRPr lang="en-US"/>
          </a:p>
        </p:txBody>
      </p:sp>
      <p:sp>
        <p:nvSpPr>
          <p:cNvPr id="9" name="Text 7"/>
          <p:cNvSpPr/>
          <p:nvPr/>
        </p:nvSpPr>
        <p:spPr>
          <a:xfrm>
            <a:off x="2468880" y="859536"/>
            <a:ext cx="1737360" cy="653796"/>
          </a:xfrm>
          <a:prstGeom prst="rect">
            <a:avLst/>
          </a:prstGeom>
          <a:noFill/>
          <a:ln/>
        </p:spPr>
        <p:txBody>
          <a:bodyPr wrap="square" lIns="0" tIns="0" rIns="0" bIns="0" rtlCol="0" anchor="b"/>
          <a:lstStyle/>
          <a:p>
            <a:pPr marL="0" indent="0" algn="ctr">
              <a:buNone/>
            </a:pPr>
            <a:r>
              <a:rPr lang="en-US" sz="2800" b="1" dirty="0">
                <a:solidFill>
                  <a:srgbClr val="FFFFFF"/>
                </a:solidFill>
                <a:latin typeface="Calibri" pitchFamily="34" charset="0"/>
                <a:ea typeface="Calibri" pitchFamily="34" charset="-122"/>
                <a:cs typeface="Calibri" pitchFamily="34" charset="-120"/>
              </a:rPr>
              <a:t>5×</a:t>
            </a:r>
            <a:endParaRPr lang="en-US" sz="2800" dirty="0"/>
          </a:p>
        </p:txBody>
      </p:sp>
      <p:sp>
        <p:nvSpPr>
          <p:cNvPr id="10" name="Text 8"/>
          <p:cNvSpPr/>
          <p:nvPr/>
        </p:nvSpPr>
        <p:spPr>
          <a:xfrm>
            <a:off x="2450592" y="1486814"/>
            <a:ext cx="1773936" cy="451714"/>
          </a:xfrm>
          <a:prstGeom prst="rect">
            <a:avLst/>
          </a:prstGeom>
          <a:noFill/>
          <a:ln/>
        </p:spPr>
        <p:txBody>
          <a:bodyPr wrap="square" lIns="0" tIns="0" rIns="0" bIns="0" rtlCol="0" anchor="t"/>
          <a:lstStyle/>
          <a:p>
            <a:pPr marL="0" indent="0" algn="ctr">
              <a:buNone/>
            </a:pPr>
            <a:r>
              <a:rPr lang="en-US" sz="1000" dirty="0">
                <a:solidFill>
                  <a:srgbClr val="E8EEF7"/>
                </a:solidFill>
                <a:latin typeface="Calibri" pitchFamily="34" charset="0"/>
                <a:ea typeface="Calibri" pitchFamily="34" charset="-122"/>
                <a:cs typeface="Calibri" pitchFamily="34" charset="-120"/>
              </a:rPr>
              <a:t>Increase since</a:t>
            </a:r>
            <a:endParaRPr lang="en-US" sz="1000" dirty="0"/>
          </a:p>
          <a:p>
            <a:pPr marL="0" indent="0" algn="ctr">
              <a:buNone/>
            </a:pPr>
            <a:r>
              <a:rPr lang="en-US" sz="1000" dirty="0">
                <a:solidFill>
                  <a:srgbClr val="E8EEF7"/>
                </a:solidFill>
                <a:latin typeface="Calibri" pitchFamily="34" charset="0"/>
                <a:ea typeface="Calibri" pitchFamily="34" charset="-122"/>
                <a:cs typeface="Calibri" pitchFamily="34" charset="-120"/>
              </a:rPr>
              <a:t>2000</a:t>
            </a:r>
            <a:endParaRPr lang="en-US" sz="1000" dirty="0"/>
          </a:p>
        </p:txBody>
      </p:sp>
      <p:sp>
        <p:nvSpPr>
          <p:cNvPr id="11" name="Shape 9"/>
          <p:cNvSpPr/>
          <p:nvPr/>
        </p:nvSpPr>
        <p:spPr>
          <a:xfrm>
            <a:off x="4434840" y="749808"/>
            <a:ext cx="1920240" cy="1188720"/>
          </a:xfrm>
          <a:prstGeom prst="rect">
            <a:avLst/>
          </a:prstGeom>
          <a:solidFill>
            <a:srgbClr val="334155"/>
          </a:solidFill>
          <a:ln/>
          <a:effectLst>
            <a:outerShdw blurRad="76200" dist="38100" dir="8100000" algn="bl" rotWithShape="0">
              <a:srgbClr val="000000">
                <a:alpha val="12000"/>
              </a:srgbClr>
            </a:outerShdw>
          </a:effectLst>
        </p:spPr>
        <p:txBody>
          <a:bodyPr/>
          <a:lstStyle/>
          <a:p>
            <a:endParaRPr lang="en-US"/>
          </a:p>
        </p:txBody>
      </p:sp>
      <p:sp>
        <p:nvSpPr>
          <p:cNvPr id="12" name="Text 10"/>
          <p:cNvSpPr/>
          <p:nvPr/>
        </p:nvSpPr>
        <p:spPr>
          <a:xfrm>
            <a:off x="4526280" y="859536"/>
            <a:ext cx="1737360" cy="653796"/>
          </a:xfrm>
          <a:prstGeom prst="rect">
            <a:avLst/>
          </a:prstGeom>
          <a:noFill/>
          <a:ln/>
        </p:spPr>
        <p:txBody>
          <a:bodyPr wrap="square" lIns="0" tIns="0" rIns="0" bIns="0" rtlCol="0" anchor="b"/>
          <a:lstStyle/>
          <a:p>
            <a:pPr marL="0" indent="0" algn="ctr">
              <a:buNone/>
            </a:pPr>
            <a:r>
              <a:rPr lang="en-US" sz="2800" b="1" dirty="0">
                <a:solidFill>
                  <a:srgbClr val="FFFFFF"/>
                </a:solidFill>
                <a:latin typeface="Calibri" pitchFamily="34" charset="0"/>
                <a:ea typeface="Calibri" pitchFamily="34" charset="-122"/>
                <a:cs typeface="Calibri" pitchFamily="34" charset="-120"/>
              </a:rPr>
              <a:t>~1 every</a:t>
            </a:r>
            <a:endParaRPr lang="en-US" sz="2800" dirty="0"/>
          </a:p>
          <a:p>
            <a:pPr marL="0" indent="0" algn="ctr">
              <a:buNone/>
            </a:pPr>
            <a:r>
              <a:rPr lang="en-US" sz="2800" b="1" dirty="0">
                <a:solidFill>
                  <a:srgbClr val="FFFFFF"/>
                </a:solidFill>
                <a:latin typeface="Calibri" pitchFamily="34" charset="0"/>
                <a:ea typeface="Calibri" pitchFamily="34" charset="-122"/>
                <a:cs typeface="Calibri" pitchFamily="34" charset="-120"/>
              </a:rPr>
              <a:t>5 min</a:t>
            </a:r>
            <a:endParaRPr lang="en-US" sz="2800" dirty="0"/>
          </a:p>
        </p:txBody>
      </p:sp>
      <p:sp>
        <p:nvSpPr>
          <p:cNvPr id="13" name="Text 11"/>
          <p:cNvSpPr/>
          <p:nvPr/>
        </p:nvSpPr>
        <p:spPr>
          <a:xfrm>
            <a:off x="4507992" y="1486814"/>
            <a:ext cx="1773936" cy="451714"/>
          </a:xfrm>
          <a:prstGeom prst="rect">
            <a:avLst/>
          </a:prstGeom>
          <a:noFill/>
          <a:ln/>
        </p:spPr>
        <p:txBody>
          <a:bodyPr wrap="square" lIns="0" tIns="0" rIns="0" bIns="0" rtlCol="0" anchor="t"/>
          <a:lstStyle/>
          <a:p>
            <a:pPr marL="0" indent="0" algn="ctr">
              <a:buNone/>
            </a:pPr>
            <a:r>
              <a:rPr lang="en-US" sz="1000" dirty="0">
                <a:solidFill>
                  <a:srgbClr val="E8EEF7"/>
                </a:solidFill>
                <a:latin typeface="Calibri" pitchFamily="34" charset="0"/>
                <a:ea typeface="Calibri" pitchFamily="34" charset="-122"/>
                <a:cs typeface="Calibri" pitchFamily="34" charset="-120"/>
              </a:rPr>
              <a:t>Overdose death</a:t>
            </a:r>
            <a:endParaRPr lang="en-US" sz="1000" dirty="0"/>
          </a:p>
          <a:p>
            <a:pPr marL="0" indent="0" algn="ctr">
              <a:buNone/>
            </a:pPr>
            <a:r>
              <a:rPr lang="en-US" sz="1000" dirty="0">
                <a:solidFill>
                  <a:srgbClr val="E8EEF7"/>
                </a:solidFill>
                <a:latin typeface="Calibri" pitchFamily="34" charset="0"/>
                <a:ea typeface="Calibri" pitchFamily="34" charset="-122"/>
                <a:cs typeface="Calibri" pitchFamily="34" charset="-120"/>
              </a:rPr>
              <a:t>rate in 2022</a:t>
            </a:r>
            <a:endParaRPr lang="en-US" sz="1000" dirty="0"/>
          </a:p>
        </p:txBody>
      </p:sp>
      <p:sp>
        <p:nvSpPr>
          <p:cNvPr id="14" name="Shape 12"/>
          <p:cNvSpPr/>
          <p:nvPr/>
        </p:nvSpPr>
        <p:spPr>
          <a:xfrm>
            <a:off x="6492240" y="749808"/>
            <a:ext cx="1920240" cy="1188720"/>
          </a:xfrm>
          <a:prstGeom prst="rect">
            <a:avLst/>
          </a:prstGeom>
          <a:solidFill>
            <a:srgbClr val="6D2E46"/>
          </a:solidFill>
          <a:ln/>
          <a:effectLst>
            <a:outerShdw blurRad="76200" dist="38100" dir="8100000" algn="bl" rotWithShape="0">
              <a:srgbClr val="000000">
                <a:alpha val="12000"/>
              </a:srgbClr>
            </a:outerShdw>
          </a:effectLst>
        </p:spPr>
        <p:txBody>
          <a:bodyPr/>
          <a:lstStyle/>
          <a:p>
            <a:endParaRPr lang="en-US"/>
          </a:p>
        </p:txBody>
      </p:sp>
      <p:sp>
        <p:nvSpPr>
          <p:cNvPr id="15" name="Text 13"/>
          <p:cNvSpPr/>
          <p:nvPr/>
        </p:nvSpPr>
        <p:spPr>
          <a:xfrm>
            <a:off x="6583680" y="859536"/>
            <a:ext cx="1737360" cy="653796"/>
          </a:xfrm>
          <a:prstGeom prst="rect">
            <a:avLst/>
          </a:prstGeom>
          <a:noFill/>
          <a:ln/>
        </p:spPr>
        <p:txBody>
          <a:bodyPr wrap="square" lIns="0" tIns="0" rIns="0" bIns="0" rtlCol="0" anchor="b"/>
          <a:lstStyle/>
          <a:p>
            <a:pPr marL="0" indent="0" algn="ctr">
              <a:buNone/>
            </a:pPr>
            <a:r>
              <a:rPr lang="en-US" sz="2800" b="1" dirty="0">
                <a:solidFill>
                  <a:srgbClr val="FFFFFF"/>
                </a:solidFill>
                <a:latin typeface="Calibri" pitchFamily="34" charset="0"/>
                <a:ea typeface="Calibri" pitchFamily="34" charset="-122"/>
                <a:cs typeface="Calibri" pitchFamily="34" charset="-120"/>
              </a:rPr>
              <a:t>Wave 3</a:t>
            </a:r>
            <a:endParaRPr lang="en-US" sz="2800" dirty="0"/>
          </a:p>
        </p:txBody>
      </p:sp>
      <p:sp>
        <p:nvSpPr>
          <p:cNvPr id="16" name="Text 14"/>
          <p:cNvSpPr/>
          <p:nvPr/>
        </p:nvSpPr>
        <p:spPr>
          <a:xfrm>
            <a:off x="6565392" y="1486814"/>
            <a:ext cx="1773936" cy="451714"/>
          </a:xfrm>
          <a:prstGeom prst="rect">
            <a:avLst/>
          </a:prstGeom>
          <a:noFill/>
          <a:ln/>
        </p:spPr>
        <p:txBody>
          <a:bodyPr wrap="square" lIns="0" tIns="0" rIns="0" bIns="0" rtlCol="0" anchor="t"/>
          <a:lstStyle/>
          <a:p>
            <a:pPr marL="0" indent="0" algn="ctr">
              <a:buNone/>
            </a:pPr>
            <a:r>
              <a:rPr lang="en-US" sz="1000" dirty="0">
                <a:solidFill>
                  <a:srgbClr val="E8EEF7"/>
                </a:solidFill>
                <a:latin typeface="Calibri" pitchFamily="34" charset="0"/>
                <a:ea typeface="Calibri" pitchFamily="34" charset="-122"/>
                <a:cs typeface="Calibri" pitchFamily="34" charset="-120"/>
              </a:rPr>
              <a:t>Fentanyl now</a:t>
            </a:r>
            <a:endParaRPr lang="en-US" sz="1000" dirty="0"/>
          </a:p>
          <a:p>
            <a:pPr marL="0" indent="0" algn="ctr">
              <a:buNone/>
            </a:pPr>
            <a:r>
              <a:rPr lang="en-US" sz="1000" dirty="0">
                <a:solidFill>
                  <a:srgbClr val="E8EEF7"/>
                </a:solidFill>
                <a:latin typeface="Calibri" pitchFamily="34" charset="0"/>
                <a:ea typeface="Calibri" pitchFamily="34" charset="-122"/>
                <a:cs typeface="Calibri" pitchFamily="34" charset="-120"/>
              </a:rPr>
              <a:t>dominates</a:t>
            </a:r>
            <a:endParaRPr lang="en-US" sz="1000" dirty="0"/>
          </a:p>
        </p:txBody>
      </p:sp>
      <p:sp>
        <p:nvSpPr>
          <p:cNvPr id="17" name="Shape 15"/>
          <p:cNvSpPr/>
          <p:nvPr/>
        </p:nvSpPr>
        <p:spPr>
          <a:xfrm>
            <a:off x="320040" y="2121408"/>
            <a:ext cx="8503920" cy="658368"/>
          </a:xfrm>
          <a:prstGeom prst="rect">
            <a:avLst/>
          </a:prstGeom>
          <a:solidFill>
            <a:srgbClr val="E8EEF7"/>
          </a:solidFill>
          <a:ln w="12700">
            <a:solidFill>
              <a:srgbClr val="5A7ABF"/>
            </a:solidFill>
            <a:prstDash val="solid"/>
          </a:ln>
        </p:spPr>
        <p:txBody>
          <a:bodyPr/>
          <a:lstStyle/>
          <a:p>
            <a:endParaRPr lang="en-US"/>
          </a:p>
        </p:txBody>
      </p:sp>
      <p:sp>
        <p:nvSpPr>
          <p:cNvPr id="18" name="Text 16"/>
          <p:cNvSpPr/>
          <p:nvPr/>
        </p:nvSpPr>
        <p:spPr>
          <a:xfrm>
            <a:off x="502920" y="2167128"/>
            <a:ext cx="2103120" cy="274320"/>
          </a:xfrm>
          <a:prstGeom prst="rect">
            <a:avLst/>
          </a:prstGeom>
          <a:noFill/>
          <a:ln/>
        </p:spPr>
        <p:txBody>
          <a:bodyPr wrap="square" lIns="0" tIns="0" rIns="0" bIns="0" rtlCol="0" anchor="ctr"/>
          <a:lstStyle/>
          <a:p>
            <a:pPr marL="0" indent="0">
              <a:buNone/>
            </a:pPr>
            <a:r>
              <a:rPr lang="en-US" sz="1100" b="1" dirty="0">
                <a:solidFill>
                  <a:srgbClr val="002D62"/>
                </a:solidFill>
                <a:latin typeface="Calibri" pitchFamily="34" charset="0"/>
                <a:ea typeface="Calibri" pitchFamily="34" charset="-122"/>
                <a:cs typeface="Calibri" pitchFamily="34" charset="-120"/>
              </a:rPr>
              <a:t>Research Question:</a:t>
            </a:r>
            <a:endParaRPr lang="en-US" sz="1100" dirty="0"/>
          </a:p>
        </p:txBody>
      </p:sp>
      <p:sp>
        <p:nvSpPr>
          <p:cNvPr id="19" name="Text 17"/>
          <p:cNvSpPr/>
          <p:nvPr/>
        </p:nvSpPr>
        <p:spPr>
          <a:xfrm>
            <a:off x="502920" y="2432304"/>
            <a:ext cx="8229600" cy="292608"/>
          </a:xfrm>
          <a:prstGeom prst="rect">
            <a:avLst/>
          </a:prstGeom>
          <a:noFill/>
          <a:ln/>
        </p:spPr>
        <p:txBody>
          <a:bodyPr wrap="square" lIns="0" tIns="0" rIns="0" bIns="0" rtlCol="0" anchor="ctr"/>
          <a:lstStyle/>
          <a:p>
            <a:pPr marL="0" indent="0">
              <a:buNone/>
            </a:pPr>
            <a:r>
              <a:rPr lang="en-US" sz="1050" i="1" dirty="0">
                <a:solidFill>
                  <a:srgbClr val="334155"/>
                </a:solidFill>
                <a:latin typeface="Calibri" pitchFamily="34" charset="0"/>
                <a:ea typeface="Calibri" pitchFamily="34" charset="-122"/>
                <a:cs typeface="Calibri" pitchFamily="34" charset="-120"/>
              </a:rPr>
              <a:t>How do geographic, demographic, socioeconomic, and behavioral factors influence drug overdose mortality rates across U.S. states — and where are the highest-risk geographic clusters?</a:t>
            </a:r>
            <a:endParaRPr lang="en-US" sz="1050" dirty="0"/>
          </a:p>
        </p:txBody>
      </p:sp>
      <p:sp>
        <p:nvSpPr>
          <p:cNvPr id="20" name="Text 18"/>
          <p:cNvSpPr/>
          <p:nvPr/>
        </p:nvSpPr>
        <p:spPr>
          <a:xfrm>
            <a:off x="411480" y="2880360"/>
            <a:ext cx="8412480" cy="2011680"/>
          </a:xfrm>
          <a:prstGeom prst="rect">
            <a:avLst/>
          </a:prstGeom>
          <a:noFill/>
          <a:ln/>
        </p:spPr>
        <p:txBody>
          <a:bodyPr wrap="square" rtlCol="0" anchor="ctr"/>
          <a:lstStyle/>
          <a:p>
            <a:pPr marL="342900" indent="-342900">
              <a:buSzPct val="100000"/>
              <a:buChar char="•"/>
            </a:pPr>
            <a:r>
              <a:rPr lang="en-US" sz="1150" dirty="0">
                <a:solidFill>
                  <a:srgbClr val="334155"/>
                </a:solidFill>
                <a:latin typeface="Calibri" pitchFamily="34" charset="0"/>
                <a:ea typeface="Calibri" pitchFamily="34" charset="-122"/>
                <a:cs typeface="Calibri" pitchFamily="34" charset="-120"/>
              </a:rPr>
              <a:t>Map the spatial distribution of deaths and identify hotspot clusters</a:t>
            </a:r>
            <a:endParaRPr lang="en-US" sz="1150" dirty="0"/>
          </a:p>
          <a:p>
            <a:pPr marL="342900" indent="-342900">
              <a:buSzPct val="100000"/>
              <a:buChar char="•"/>
            </a:pPr>
            <a:r>
              <a:rPr lang="en-US" sz="1150" dirty="0">
                <a:solidFill>
                  <a:srgbClr val="334155"/>
                </a:solidFill>
                <a:latin typeface="Calibri" pitchFamily="34" charset="0"/>
                <a:ea typeface="Calibri" pitchFamily="34" charset="-122"/>
                <a:cs typeface="Calibri" pitchFamily="34" charset="-120"/>
              </a:rPr>
              <a:t>Analyze temporal trends 2015–2022 by drug type and region</a:t>
            </a:r>
            <a:endParaRPr lang="en-US" sz="1150" dirty="0"/>
          </a:p>
          <a:p>
            <a:pPr marL="342900" indent="-342900">
              <a:buSzPct val="100000"/>
              <a:buChar char="•"/>
            </a:pPr>
            <a:r>
              <a:rPr lang="en-US" sz="1150" dirty="0">
                <a:solidFill>
                  <a:srgbClr val="334155"/>
                </a:solidFill>
                <a:latin typeface="Calibri" pitchFamily="34" charset="0"/>
                <a:ea typeface="Calibri" pitchFamily="34" charset="-122"/>
                <a:cs typeface="Calibri" pitchFamily="34" charset="-120"/>
              </a:rPr>
              <a:t>Build regression models to identify the strongest predictors</a:t>
            </a:r>
            <a:endParaRPr lang="en-US" sz="1150" dirty="0"/>
          </a:p>
          <a:p>
            <a:pPr marL="342900" indent="-342900">
              <a:buSzPct val="100000"/>
              <a:buChar char="•"/>
            </a:pPr>
            <a:r>
              <a:rPr lang="en-US" sz="1150" dirty="0">
                <a:solidFill>
                  <a:srgbClr val="334155"/>
                </a:solidFill>
                <a:latin typeface="Calibri" pitchFamily="34" charset="0"/>
                <a:ea typeface="Calibri" pitchFamily="34" charset="-122"/>
                <a:cs typeface="Calibri" pitchFamily="34" charset="-120"/>
              </a:rPr>
              <a:t>Profile states into risk typologies via unsupervised cluster analysis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02D62"/>
          </a:solidFill>
          <a:ln/>
        </p:spPr>
        <p:txBody>
          <a:bodyPr/>
          <a:lstStyle/>
          <a:p>
            <a:endParaRPr lang="en-US"/>
          </a:p>
        </p:txBody>
      </p:sp>
      <p:sp>
        <p:nvSpPr>
          <p:cNvPr id="3" name="Text 1"/>
          <p:cNvSpPr/>
          <p:nvPr/>
        </p:nvSpPr>
        <p:spPr>
          <a:xfrm>
            <a:off x="320040" y="45720"/>
            <a:ext cx="850392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Data — CDC VSRR Provisional Drug Overdose Death Counts</a:t>
            </a:r>
            <a:endParaRPr lang="en-US" sz="2000" dirty="0"/>
          </a:p>
        </p:txBody>
      </p:sp>
      <p:sp>
        <p:nvSpPr>
          <p:cNvPr id="4" name="Shape 2"/>
          <p:cNvSpPr/>
          <p:nvPr/>
        </p:nvSpPr>
        <p:spPr>
          <a:xfrm>
            <a:off x="0" y="594360"/>
            <a:ext cx="64008" cy="4549140"/>
          </a:xfrm>
          <a:prstGeom prst="rect">
            <a:avLst/>
          </a:prstGeom>
          <a:solidFill>
            <a:srgbClr val="DAAA00"/>
          </a:solidFill>
          <a:ln/>
        </p:spPr>
        <p:txBody>
          <a:bodyPr/>
          <a:lstStyle/>
          <a:p>
            <a:endParaRPr lang="en-US"/>
          </a:p>
        </p:txBody>
      </p:sp>
      <p:sp>
        <p:nvSpPr>
          <p:cNvPr id="5" name="Shape 3"/>
          <p:cNvSpPr/>
          <p:nvPr/>
        </p:nvSpPr>
        <p:spPr>
          <a:xfrm>
            <a:off x="320040" y="749808"/>
            <a:ext cx="4023360" cy="4023360"/>
          </a:xfrm>
          <a:prstGeom prst="rect">
            <a:avLst/>
          </a:prstGeom>
          <a:solidFill>
            <a:srgbClr val="E8EEF7"/>
          </a:solidFill>
          <a:ln/>
          <a:effectLst>
            <a:outerShdw blurRad="76200" dist="38100" dir="8100000" algn="bl" rotWithShape="0">
              <a:srgbClr val="000000">
                <a:alpha val="12000"/>
              </a:srgbClr>
            </a:outerShdw>
          </a:effectLst>
        </p:spPr>
        <p:txBody>
          <a:bodyPr/>
          <a:lstStyle/>
          <a:p>
            <a:endParaRPr lang="en-US"/>
          </a:p>
        </p:txBody>
      </p:sp>
      <p:sp>
        <p:nvSpPr>
          <p:cNvPr id="6" name="Text 4"/>
          <p:cNvSpPr/>
          <p:nvPr/>
        </p:nvSpPr>
        <p:spPr>
          <a:xfrm>
            <a:off x="502920" y="822960"/>
            <a:ext cx="3657600" cy="320040"/>
          </a:xfrm>
          <a:prstGeom prst="rect">
            <a:avLst/>
          </a:prstGeom>
          <a:noFill/>
          <a:ln/>
        </p:spPr>
        <p:txBody>
          <a:bodyPr wrap="square" lIns="0" tIns="0" rIns="0" bIns="0" rtlCol="0" anchor="ctr"/>
          <a:lstStyle/>
          <a:p>
            <a:pPr marL="0" indent="0">
              <a:buNone/>
            </a:pPr>
            <a:r>
              <a:rPr lang="en-US" sz="1300" b="1" dirty="0">
                <a:solidFill>
                  <a:srgbClr val="002D62"/>
                </a:solidFill>
                <a:latin typeface="Calibri" pitchFamily="34" charset="0"/>
                <a:ea typeface="Calibri" pitchFamily="34" charset="-122"/>
                <a:cs typeface="Calibri" pitchFamily="34" charset="-120"/>
              </a:rPr>
              <a:t>Data Source</a:t>
            </a:r>
            <a:endParaRPr lang="en-US" sz="1300" dirty="0"/>
          </a:p>
        </p:txBody>
      </p:sp>
      <p:sp>
        <p:nvSpPr>
          <p:cNvPr id="7" name="Text 5"/>
          <p:cNvSpPr/>
          <p:nvPr/>
        </p:nvSpPr>
        <p:spPr>
          <a:xfrm>
            <a:off x="502920" y="1234440"/>
            <a:ext cx="3657600" cy="3383280"/>
          </a:xfrm>
          <a:prstGeom prst="rect">
            <a:avLst/>
          </a:prstGeom>
          <a:noFill/>
          <a:ln/>
        </p:spPr>
        <p:txBody>
          <a:bodyPr wrap="square" lIns="0" tIns="0" rIns="0" bIns="0" rtlCol="0" anchor="t"/>
          <a:lstStyle/>
          <a:p>
            <a:pPr marL="0" indent="0">
              <a:buNone/>
            </a:pPr>
            <a:r>
              <a:rPr lang="en-US" sz="1100" b="1" dirty="0">
                <a:solidFill>
                  <a:srgbClr val="334155"/>
                </a:solidFill>
                <a:latin typeface="Calibri" pitchFamily="34" charset="0"/>
                <a:ea typeface="Calibri" pitchFamily="34" charset="-122"/>
                <a:cs typeface="Calibri" pitchFamily="34" charset="-120"/>
              </a:rPr>
              <a:t>Provider: </a:t>
            </a:r>
            <a:r>
              <a:rPr lang="en-US" sz="1100" dirty="0">
                <a:solidFill>
                  <a:srgbClr val="334155"/>
                </a:solidFill>
                <a:latin typeface="Calibri" pitchFamily="34" charset="0"/>
                <a:ea typeface="Calibri" pitchFamily="34" charset="-122"/>
                <a:cs typeface="Calibri" pitchFamily="34" charset="-120"/>
              </a:rPr>
              <a:t>CDC / National Center for Health Statistics
</a:t>
            </a:r>
            <a:r>
              <a:rPr lang="en-US" sz="1100" b="1" dirty="0">
                <a:solidFill>
                  <a:srgbClr val="334155"/>
                </a:solidFill>
                <a:latin typeface="Calibri" pitchFamily="34" charset="0"/>
                <a:ea typeface="Calibri" pitchFamily="34" charset="-122"/>
                <a:cs typeface="Calibri" pitchFamily="34" charset="-120"/>
              </a:rPr>
              <a:t>Program: </a:t>
            </a:r>
            <a:r>
              <a:rPr lang="en-US" sz="1100" dirty="0">
                <a:solidFill>
                  <a:srgbClr val="334155"/>
                </a:solidFill>
                <a:latin typeface="Calibri" pitchFamily="34" charset="0"/>
                <a:ea typeface="Calibri" pitchFamily="34" charset="-122"/>
                <a:cs typeface="Calibri" pitchFamily="34" charset="-120"/>
              </a:rPr>
              <a:t>Vital Statistics Rapid Release (VSRR)
</a:t>
            </a:r>
            <a:r>
              <a:rPr lang="en-US" sz="1100" b="1" dirty="0">
                <a:solidFill>
                  <a:srgbClr val="334155"/>
                </a:solidFill>
                <a:latin typeface="Calibri" pitchFamily="34" charset="0"/>
                <a:ea typeface="Calibri" pitchFamily="34" charset="-122"/>
                <a:cs typeface="Calibri" pitchFamily="34" charset="-120"/>
              </a:rPr>
              <a:t>Coverage: </a:t>
            </a:r>
            <a:r>
              <a:rPr lang="en-US" sz="1100" dirty="0">
                <a:solidFill>
                  <a:srgbClr val="334155"/>
                </a:solidFill>
                <a:latin typeface="Calibri" pitchFamily="34" charset="0"/>
                <a:ea typeface="Calibri" pitchFamily="34" charset="-122"/>
                <a:cs typeface="Calibri" pitchFamily="34" charset="-120"/>
              </a:rPr>
              <a:t>All 50 states + DC, 2015–2022
</a:t>
            </a:r>
            <a:r>
              <a:rPr lang="en-US" sz="1100" b="1" dirty="0">
                <a:solidFill>
                  <a:srgbClr val="334155"/>
                </a:solidFill>
                <a:latin typeface="Calibri" pitchFamily="34" charset="0"/>
                <a:ea typeface="Calibri" pitchFamily="34" charset="-122"/>
                <a:cs typeface="Calibri" pitchFamily="34" charset="-120"/>
              </a:rPr>
              <a:t>Unit: </a:t>
            </a:r>
            <a:r>
              <a:rPr lang="en-US" sz="1100" dirty="0">
                <a:solidFill>
                  <a:srgbClr val="334155"/>
                </a:solidFill>
                <a:latin typeface="Calibri" pitchFamily="34" charset="0"/>
                <a:ea typeface="Calibri" pitchFamily="34" charset="-122"/>
                <a:cs typeface="Calibri" pitchFamily="34" charset="-120"/>
              </a:rPr>
              <a:t>12-month provisional death counts
</a:t>
            </a:r>
            <a:r>
              <a:rPr lang="en-US" sz="1100" b="1" dirty="0">
                <a:solidFill>
                  <a:srgbClr val="334155"/>
                </a:solidFill>
                <a:latin typeface="Calibri" pitchFamily="34" charset="0"/>
                <a:ea typeface="Calibri" pitchFamily="34" charset="-122"/>
                <a:cs typeface="Calibri" pitchFamily="34" charset="-120"/>
              </a:rPr>
              <a:t>Drug types: </a:t>
            </a:r>
            <a:r>
              <a:rPr lang="en-US" sz="1100" dirty="0">
                <a:solidFill>
                  <a:srgbClr val="334155"/>
                </a:solidFill>
                <a:latin typeface="Calibri" pitchFamily="34" charset="0"/>
                <a:ea typeface="Calibri" pitchFamily="34" charset="-122"/>
                <a:cs typeface="Calibri" pitchFamily="34" charset="-120"/>
              </a:rPr>
              <a:t>All Drugs, Opioids, Heroin, Synthetic</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Opioids, Cocaine, Psychostimulants</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0" y="749808"/>
          <a:ext cx="4251960" cy="4023360"/>
        </p:xfrm>
        <a:graphic>
          <a:graphicData uri="http://schemas.openxmlformats.org/drawingml/2006/table">
            <a:tbl>
              <a:tblPr/>
              <a:tblGrid>
                <a:gridCol w="155448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tblGrid>
              <a:tr h="44704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Variable</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02D62"/>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Description</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02D62"/>
                    </a:solidFill>
                  </a:tcPr>
                </a:tc>
                <a:extLst>
                  <a:ext uri="{0D108BD9-81ED-4DB2-BD59-A6C34878D82A}">
                    <a16:rowId xmlns:a16="http://schemas.microsoft.com/office/drawing/2014/main" val="10000"/>
                  </a:ext>
                </a:extLst>
              </a:tr>
              <a:tr h="44704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state</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U.S. state name</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704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year</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Calendar year (2015–2022)</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704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drug_type</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Drug class label (derived)</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704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deaths</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12-month provisional count</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4704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pct_pending</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 cases pending toxicology</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4704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region</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US Census region (derived)</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4704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appalachian</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Appalachian corridor flag</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47040">
                <a:tc>
                  <a:txBody>
                    <a:bodyPr/>
                    <a:lstStyle/>
                    <a:p>
                      <a:pPr marL="0" indent="0">
                        <a:buNone/>
                      </a:pPr>
                      <a:r>
                        <a:rPr lang="en-US" sz="1000" b="1" dirty="0">
                          <a:solidFill>
                            <a:srgbClr val="D62728"/>
                          </a:solidFill>
                          <a:latin typeface="Calibri" pitchFamily="34" charset="0"/>
                          <a:ea typeface="Calibri" pitchFamily="34" charset="-122"/>
                          <a:cs typeface="Calibri" pitchFamily="34" charset="-120"/>
                        </a:rPr>
                        <a:t>total_deaths</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b="1" dirty="0">
                          <a:solidFill>
                            <a:srgbClr val="D62728"/>
                          </a:solidFill>
                          <a:latin typeface="Calibri" pitchFamily="34" charset="0"/>
                          <a:ea typeface="Calibri" pitchFamily="34" charset="-122"/>
                          <a:cs typeface="Calibri" pitchFamily="34" charset="-120"/>
                        </a:rPr>
                        <a:t>TARGET variable — removed before clustering</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02D62"/>
          </a:solidFill>
          <a:ln/>
        </p:spPr>
        <p:txBody>
          <a:bodyPr/>
          <a:lstStyle/>
          <a:p>
            <a:endParaRPr lang="en-US"/>
          </a:p>
        </p:txBody>
      </p:sp>
      <p:sp>
        <p:nvSpPr>
          <p:cNvPr id="3" name="Text 1"/>
          <p:cNvSpPr/>
          <p:nvPr/>
        </p:nvSpPr>
        <p:spPr>
          <a:xfrm>
            <a:off x="320040" y="45720"/>
            <a:ext cx="850392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Data Wrangling &amp; Transformation</a:t>
            </a:r>
            <a:endParaRPr lang="en-US" sz="2000" dirty="0"/>
          </a:p>
        </p:txBody>
      </p:sp>
      <p:sp>
        <p:nvSpPr>
          <p:cNvPr id="4" name="Shape 2"/>
          <p:cNvSpPr/>
          <p:nvPr/>
        </p:nvSpPr>
        <p:spPr>
          <a:xfrm>
            <a:off x="0" y="594360"/>
            <a:ext cx="64008" cy="4549140"/>
          </a:xfrm>
          <a:prstGeom prst="rect">
            <a:avLst/>
          </a:prstGeom>
          <a:solidFill>
            <a:srgbClr val="DAAA00"/>
          </a:solidFill>
          <a:ln/>
        </p:spPr>
        <p:txBody>
          <a:bodyPr/>
          <a:lstStyle/>
          <a:p>
            <a:endParaRPr lang="en-US"/>
          </a:p>
        </p:txBody>
      </p:sp>
      <p:sp>
        <p:nvSpPr>
          <p:cNvPr id="5" name="Shape 3"/>
          <p:cNvSpPr/>
          <p:nvPr/>
        </p:nvSpPr>
        <p:spPr>
          <a:xfrm>
            <a:off x="320040" y="777240"/>
            <a:ext cx="2743200" cy="1691640"/>
          </a:xfrm>
          <a:prstGeom prst="rect">
            <a:avLst/>
          </a:prstGeom>
          <a:solidFill>
            <a:srgbClr val="002D62"/>
          </a:solidFill>
          <a:ln/>
          <a:effectLst>
            <a:outerShdw blurRad="76200" dist="38100" dir="8100000" algn="bl" rotWithShape="0">
              <a:srgbClr val="000000">
                <a:alpha val="12000"/>
              </a:srgbClr>
            </a:outerShdw>
          </a:effectLst>
        </p:spPr>
        <p:txBody>
          <a:bodyPr/>
          <a:lstStyle/>
          <a:p>
            <a:endParaRPr lang="en-US"/>
          </a:p>
        </p:txBody>
      </p:sp>
      <p:sp>
        <p:nvSpPr>
          <p:cNvPr id="6" name="Text 4"/>
          <p:cNvSpPr/>
          <p:nvPr/>
        </p:nvSpPr>
        <p:spPr>
          <a:xfrm>
            <a:off x="457200" y="905256"/>
            <a:ext cx="2468880" cy="475488"/>
          </a:xfrm>
          <a:prstGeom prst="rect">
            <a:avLst/>
          </a:prstGeom>
          <a:noFill/>
          <a:ln/>
        </p:spPr>
        <p:txBody>
          <a:bodyPr wrap="square" lIns="0" tIns="0" rIns="0" bIns="0" rtlCol="0" anchor="ctr"/>
          <a:lstStyle/>
          <a:p>
            <a:pPr marL="0" indent="0">
              <a:buNone/>
            </a:pPr>
            <a:r>
              <a:rPr lang="en-US" sz="1400" b="1" dirty="0">
                <a:solidFill>
                  <a:srgbClr val="FFFFFF"/>
                </a:solidFill>
                <a:latin typeface="Consolas" pitchFamily="34" charset="0"/>
                <a:ea typeface="Consolas" pitchFamily="34" charset="-122"/>
                <a:cs typeface="Consolas" pitchFamily="34" charset="-120"/>
              </a:rPr>
              <a:t>filter()</a:t>
            </a:r>
            <a:endParaRPr lang="en-US" sz="1400" dirty="0"/>
          </a:p>
        </p:txBody>
      </p:sp>
      <p:sp>
        <p:nvSpPr>
          <p:cNvPr id="7" name="Text 5"/>
          <p:cNvSpPr/>
          <p:nvPr/>
        </p:nvSpPr>
        <p:spPr>
          <a:xfrm>
            <a:off x="457200" y="1417320"/>
            <a:ext cx="2468880" cy="914400"/>
          </a:xfrm>
          <a:prstGeom prst="rect">
            <a:avLst/>
          </a:prstGeom>
          <a:noFill/>
          <a:ln/>
        </p:spPr>
        <p:txBody>
          <a:bodyPr wrap="square" lIns="0" tIns="0" rIns="0" bIns="0" rtlCol="0" anchor="ctr"/>
          <a:lstStyle/>
          <a:p>
            <a:pPr marL="0" indent="0">
              <a:buNone/>
            </a:pPr>
            <a:r>
              <a:rPr lang="en-US" sz="1050" dirty="0">
                <a:solidFill>
                  <a:srgbClr val="E8EEF7"/>
                </a:solidFill>
                <a:latin typeface="Calibri" pitchFamily="34" charset="0"/>
                <a:ea typeface="Calibri" pitchFamily="34" charset="-122"/>
                <a:cs typeface="Calibri" pitchFamily="34" charset="-120"/>
              </a:rPr>
              <a:t>Keep non-missing rows;</a:t>
            </a:r>
            <a:endParaRPr lang="en-US" sz="1050" dirty="0"/>
          </a:p>
          <a:p>
            <a:pPr marL="0" indent="0">
              <a:buNone/>
            </a:pPr>
            <a:r>
              <a:rPr lang="en-US" sz="1050" dirty="0">
                <a:solidFill>
                  <a:srgbClr val="E8EEF7"/>
                </a:solidFill>
                <a:latin typeface="Calibri" pitchFamily="34" charset="0"/>
                <a:ea typeface="Calibri" pitchFamily="34" charset="-122"/>
                <a:cs typeface="Calibri" pitchFamily="34" charset="-120"/>
              </a:rPr>
              <a:t>remove national total rows</a:t>
            </a:r>
            <a:endParaRPr lang="en-US" sz="1050" dirty="0"/>
          </a:p>
        </p:txBody>
      </p:sp>
      <p:sp>
        <p:nvSpPr>
          <p:cNvPr id="8" name="Shape 6"/>
          <p:cNvSpPr/>
          <p:nvPr/>
        </p:nvSpPr>
        <p:spPr>
          <a:xfrm>
            <a:off x="3264408" y="777240"/>
            <a:ext cx="2743200" cy="1691640"/>
          </a:xfrm>
          <a:prstGeom prst="rect">
            <a:avLst/>
          </a:prstGeom>
          <a:solidFill>
            <a:srgbClr val="D62728"/>
          </a:solidFill>
          <a:ln/>
          <a:effectLst>
            <a:outerShdw blurRad="76200" dist="38100" dir="8100000" algn="bl" rotWithShape="0">
              <a:srgbClr val="000000">
                <a:alpha val="12000"/>
              </a:srgbClr>
            </a:outerShdw>
          </a:effectLst>
        </p:spPr>
        <p:txBody>
          <a:bodyPr/>
          <a:lstStyle/>
          <a:p>
            <a:endParaRPr lang="en-US"/>
          </a:p>
        </p:txBody>
      </p:sp>
      <p:sp>
        <p:nvSpPr>
          <p:cNvPr id="9" name="Text 7"/>
          <p:cNvSpPr/>
          <p:nvPr/>
        </p:nvSpPr>
        <p:spPr>
          <a:xfrm>
            <a:off x="3401568" y="905256"/>
            <a:ext cx="2468880" cy="475488"/>
          </a:xfrm>
          <a:prstGeom prst="rect">
            <a:avLst/>
          </a:prstGeom>
          <a:noFill/>
          <a:ln/>
        </p:spPr>
        <p:txBody>
          <a:bodyPr wrap="square" lIns="0" tIns="0" rIns="0" bIns="0" rtlCol="0" anchor="ctr"/>
          <a:lstStyle/>
          <a:p>
            <a:pPr marL="0" indent="0">
              <a:buNone/>
            </a:pPr>
            <a:r>
              <a:rPr lang="en-US" sz="1400" b="1" dirty="0">
                <a:solidFill>
                  <a:srgbClr val="FFFFFF"/>
                </a:solidFill>
                <a:latin typeface="Consolas" pitchFamily="34" charset="0"/>
                <a:ea typeface="Consolas" pitchFamily="34" charset="-122"/>
                <a:cs typeface="Consolas" pitchFamily="34" charset="-120"/>
              </a:rPr>
              <a:t>mutate()</a:t>
            </a:r>
            <a:endParaRPr lang="en-US" sz="1400" dirty="0"/>
          </a:p>
        </p:txBody>
      </p:sp>
      <p:sp>
        <p:nvSpPr>
          <p:cNvPr id="10" name="Text 8"/>
          <p:cNvSpPr/>
          <p:nvPr/>
        </p:nvSpPr>
        <p:spPr>
          <a:xfrm>
            <a:off x="3401568" y="1417320"/>
            <a:ext cx="2468880" cy="914400"/>
          </a:xfrm>
          <a:prstGeom prst="rect">
            <a:avLst/>
          </a:prstGeom>
          <a:noFill/>
          <a:ln/>
        </p:spPr>
        <p:txBody>
          <a:bodyPr wrap="square" lIns="0" tIns="0" rIns="0" bIns="0" rtlCol="0" anchor="ctr"/>
          <a:lstStyle/>
          <a:p>
            <a:pPr marL="0" indent="0">
              <a:buNone/>
            </a:pPr>
            <a:r>
              <a:rPr lang="en-US" sz="1050" dirty="0">
                <a:solidFill>
                  <a:srgbClr val="E8EEF7"/>
                </a:solidFill>
                <a:latin typeface="Calibri" pitchFamily="34" charset="0"/>
                <a:ea typeface="Calibri" pitchFamily="34" charset="-122"/>
                <a:cs typeface="Calibri" pitchFamily="34" charset="-120"/>
              </a:rPr>
              <a:t>Create drug_type, region,</a:t>
            </a:r>
            <a:endParaRPr lang="en-US" sz="1050" dirty="0"/>
          </a:p>
          <a:p>
            <a:pPr marL="0" indent="0">
              <a:buNone/>
            </a:pPr>
            <a:r>
              <a:rPr lang="en-US" sz="1050" dirty="0">
                <a:solidFill>
                  <a:srgbClr val="E8EEF7"/>
                </a:solidFill>
                <a:latin typeface="Calibri" pitchFamily="34" charset="0"/>
                <a:ea typeface="Calibri" pitchFamily="34" charset="-122"/>
                <a:cs typeface="Calibri" pitchFamily="34" charset="-120"/>
              </a:rPr>
              <a:t>appalachian, risk_level</a:t>
            </a:r>
            <a:endParaRPr lang="en-US" sz="1050" dirty="0"/>
          </a:p>
        </p:txBody>
      </p:sp>
      <p:sp>
        <p:nvSpPr>
          <p:cNvPr id="11" name="Shape 9"/>
          <p:cNvSpPr/>
          <p:nvPr/>
        </p:nvSpPr>
        <p:spPr>
          <a:xfrm>
            <a:off x="6208776" y="777240"/>
            <a:ext cx="2743200" cy="1691640"/>
          </a:xfrm>
          <a:prstGeom prst="rect">
            <a:avLst/>
          </a:prstGeom>
          <a:solidFill>
            <a:srgbClr val="065A82"/>
          </a:solidFill>
          <a:ln/>
          <a:effectLst>
            <a:outerShdw blurRad="76200" dist="38100" dir="8100000" algn="bl" rotWithShape="0">
              <a:srgbClr val="000000">
                <a:alpha val="12000"/>
              </a:srgbClr>
            </a:outerShdw>
          </a:effectLst>
        </p:spPr>
        <p:txBody>
          <a:bodyPr/>
          <a:lstStyle/>
          <a:p>
            <a:endParaRPr lang="en-US"/>
          </a:p>
        </p:txBody>
      </p:sp>
      <p:sp>
        <p:nvSpPr>
          <p:cNvPr id="12" name="Text 10"/>
          <p:cNvSpPr/>
          <p:nvPr/>
        </p:nvSpPr>
        <p:spPr>
          <a:xfrm>
            <a:off x="6345936" y="905256"/>
            <a:ext cx="2468880" cy="475488"/>
          </a:xfrm>
          <a:prstGeom prst="rect">
            <a:avLst/>
          </a:prstGeom>
          <a:noFill/>
          <a:ln/>
        </p:spPr>
        <p:txBody>
          <a:bodyPr wrap="square" lIns="0" tIns="0" rIns="0" bIns="0" rtlCol="0" anchor="ctr"/>
          <a:lstStyle/>
          <a:p>
            <a:pPr marL="0" indent="0">
              <a:buNone/>
            </a:pPr>
            <a:r>
              <a:rPr lang="en-US" sz="1400" b="1" dirty="0">
                <a:solidFill>
                  <a:srgbClr val="FFFFFF"/>
                </a:solidFill>
                <a:latin typeface="Consolas" pitchFamily="34" charset="0"/>
                <a:ea typeface="Consolas" pitchFamily="34" charset="-122"/>
                <a:cs typeface="Consolas" pitchFamily="34" charset="-120"/>
              </a:rPr>
              <a:t>case_when()</a:t>
            </a:r>
            <a:endParaRPr lang="en-US" sz="1400" dirty="0"/>
          </a:p>
        </p:txBody>
      </p:sp>
      <p:sp>
        <p:nvSpPr>
          <p:cNvPr id="13" name="Text 11"/>
          <p:cNvSpPr/>
          <p:nvPr/>
        </p:nvSpPr>
        <p:spPr>
          <a:xfrm>
            <a:off x="6345936" y="1417320"/>
            <a:ext cx="2468880" cy="914400"/>
          </a:xfrm>
          <a:prstGeom prst="rect">
            <a:avLst/>
          </a:prstGeom>
          <a:noFill/>
          <a:ln/>
        </p:spPr>
        <p:txBody>
          <a:bodyPr wrap="square" lIns="0" tIns="0" rIns="0" bIns="0" rtlCol="0" anchor="ctr"/>
          <a:lstStyle/>
          <a:p>
            <a:pPr marL="0" indent="0">
              <a:buNone/>
            </a:pPr>
            <a:r>
              <a:rPr lang="en-US" sz="1050" dirty="0">
                <a:solidFill>
                  <a:srgbClr val="E8EEF7"/>
                </a:solidFill>
                <a:latin typeface="Calibri" pitchFamily="34" charset="0"/>
                <a:ea typeface="Calibri" pitchFamily="34" charset="-122"/>
                <a:cs typeface="Calibri" pitchFamily="34" charset="-120"/>
              </a:rPr>
              <a:t>Assign US Census regions</a:t>
            </a:r>
            <a:endParaRPr lang="en-US" sz="1050" dirty="0"/>
          </a:p>
          <a:p>
            <a:pPr marL="0" indent="0">
              <a:buNone/>
            </a:pPr>
            <a:r>
              <a:rPr lang="en-US" sz="1050" dirty="0">
                <a:solidFill>
                  <a:srgbClr val="E8EEF7"/>
                </a:solidFill>
                <a:latin typeface="Calibri" pitchFamily="34" charset="0"/>
                <a:ea typeface="Calibri" pitchFamily="34" charset="-122"/>
                <a:cs typeface="Calibri" pitchFamily="34" charset="-120"/>
              </a:rPr>
              <a:t>and drug-type labels</a:t>
            </a:r>
            <a:endParaRPr lang="en-US" sz="1050" dirty="0"/>
          </a:p>
        </p:txBody>
      </p:sp>
      <p:sp>
        <p:nvSpPr>
          <p:cNvPr id="14" name="Shape 12"/>
          <p:cNvSpPr/>
          <p:nvPr/>
        </p:nvSpPr>
        <p:spPr>
          <a:xfrm>
            <a:off x="320040" y="2697480"/>
            <a:ext cx="2743200" cy="1691640"/>
          </a:xfrm>
          <a:prstGeom prst="rect">
            <a:avLst/>
          </a:prstGeom>
          <a:solidFill>
            <a:srgbClr val="334155"/>
          </a:solidFill>
          <a:ln/>
          <a:effectLst>
            <a:outerShdw blurRad="76200" dist="38100" dir="8100000" algn="bl" rotWithShape="0">
              <a:srgbClr val="000000">
                <a:alpha val="12000"/>
              </a:srgbClr>
            </a:outerShdw>
          </a:effectLst>
        </p:spPr>
        <p:txBody>
          <a:bodyPr/>
          <a:lstStyle/>
          <a:p>
            <a:endParaRPr lang="en-US"/>
          </a:p>
        </p:txBody>
      </p:sp>
      <p:sp>
        <p:nvSpPr>
          <p:cNvPr id="15" name="Text 13"/>
          <p:cNvSpPr/>
          <p:nvPr/>
        </p:nvSpPr>
        <p:spPr>
          <a:xfrm>
            <a:off x="457200" y="2825496"/>
            <a:ext cx="2468880" cy="475488"/>
          </a:xfrm>
          <a:prstGeom prst="rect">
            <a:avLst/>
          </a:prstGeom>
          <a:noFill/>
          <a:ln/>
        </p:spPr>
        <p:txBody>
          <a:bodyPr wrap="square" lIns="0" tIns="0" rIns="0" bIns="0" rtlCol="0" anchor="ctr"/>
          <a:lstStyle/>
          <a:p>
            <a:pPr marL="0" indent="0">
              <a:buNone/>
            </a:pPr>
            <a:r>
              <a:rPr lang="en-US" sz="1400" b="1" dirty="0">
                <a:solidFill>
                  <a:srgbClr val="FFFFFF"/>
                </a:solidFill>
                <a:latin typeface="Consolas" pitchFamily="34" charset="0"/>
                <a:ea typeface="Consolas" pitchFamily="34" charset="-122"/>
                <a:cs typeface="Consolas" pitchFamily="34" charset="-120"/>
              </a:rPr>
              <a:t>group_by() +</a:t>
            </a:r>
            <a:endParaRPr lang="en-US" sz="1400" dirty="0"/>
          </a:p>
          <a:p>
            <a:pPr marL="0" indent="0">
              <a:buNone/>
            </a:pPr>
            <a:r>
              <a:rPr lang="en-US" sz="1400" b="1" dirty="0">
                <a:solidFill>
                  <a:srgbClr val="FFFFFF"/>
                </a:solidFill>
                <a:latin typeface="Consolas" pitchFamily="34" charset="0"/>
                <a:ea typeface="Consolas" pitchFamily="34" charset="-122"/>
                <a:cs typeface="Consolas" pitchFamily="34" charset="-120"/>
              </a:rPr>
              <a:t>summarize()</a:t>
            </a:r>
            <a:endParaRPr lang="en-US" sz="1400" dirty="0"/>
          </a:p>
        </p:txBody>
      </p:sp>
      <p:sp>
        <p:nvSpPr>
          <p:cNvPr id="16" name="Text 14"/>
          <p:cNvSpPr/>
          <p:nvPr/>
        </p:nvSpPr>
        <p:spPr>
          <a:xfrm>
            <a:off x="457200" y="3337560"/>
            <a:ext cx="2468880" cy="914400"/>
          </a:xfrm>
          <a:prstGeom prst="rect">
            <a:avLst/>
          </a:prstGeom>
          <a:noFill/>
          <a:ln/>
        </p:spPr>
        <p:txBody>
          <a:bodyPr wrap="square" lIns="0" tIns="0" rIns="0" bIns="0" rtlCol="0" anchor="ctr"/>
          <a:lstStyle/>
          <a:p>
            <a:pPr marL="0" indent="0">
              <a:buNone/>
            </a:pPr>
            <a:r>
              <a:rPr lang="en-US" sz="1050" dirty="0">
                <a:solidFill>
                  <a:srgbClr val="E8EEF7"/>
                </a:solidFill>
                <a:latin typeface="Calibri" pitchFamily="34" charset="0"/>
                <a:ea typeface="Calibri" pitchFamily="34" charset="-122"/>
                <a:cs typeface="Calibri" pitchFamily="34" charset="-120"/>
              </a:rPr>
              <a:t>Aggregate to annual</a:t>
            </a:r>
            <a:endParaRPr lang="en-US" sz="1050" dirty="0"/>
          </a:p>
          <a:p>
            <a:pPr marL="0" indent="0">
              <a:buNone/>
            </a:pPr>
            <a:r>
              <a:rPr lang="en-US" sz="1050" dirty="0">
                <a:solidFill>
                  <a:srgbClr val="E8EEF7"/>
                </a:solidFill>
                <a:latin typeface="Calibri" pitchFamily="34" charset="0"/>
                <a:ea typeface="Calibri" pitchFamily="34" charset="-122"/>
                <a:cs typeface="Calibri" pitchFamily="34" charset="-120"/>
              </a:rPr>
              <a:t>state-level totals</a:t>
            </a:r>
            <a:endParaRPr lang="en-US" sz="1050" dirty="0"/>
          </a:p>
        </p:txBody>
      </p:sp>
      <p:sp>
        <p:nvSpPr>
          <p:cNvPr id="17" name="Shape 15"/>
          <p:cNvSpPr/>
          <p:nvPr/>
        </p:nvSpPr>
        <p:spPr>
          <a:xfrm>
            <a:off x="3264408" y="2697480"/>
            <a:ext cx="2743200" cy="1691640"/>
          </a:xfrm>
          <a:prstGeom prst="rect">
            <a:avLst/>
          </a:prstGeom>
          <a:solidFill>
            <a:srgbClr val="6D2E46"/>
          </a:solidFill>
          <a:ln/>
          <a:effectLst>
            <a:outerShdw blurRad="76200" dist="38100" dir="8100000" algn="bl" rotWithShape="0">
              <a:srgbClr val="000000">
                <a:alpha val="12000"/>
              </a:srgbClr>
            </a:outerShdw>
          </a:effectLst>
        </p:spPr>
        <p:txBody>
          <a:bodyPr/>
          <a:lstStyle/>
          <a:p>
            <a:endParaRPr lang="en-US"/>
          </a:p>
        </p:txBody>
      </p:sp>
      <p:sp>
        <p:nvSpPr>
          <p:cNvPr id="18" name="Text 16"/>
          <p:cNvSpPr/>
          <p:nvPr/>
        </p:nvSpPr>
        <p:spPr>
          <a:xfrm>
            <a:off x="3401568" y="2825496"/>
            <a:ext cx="2468880" cy="475488"/>
          </a:xfrm>
          <a:prstGeom prst="rect">
            <a:avLst/>
          </a:prstGeom>
          <a:noFill/>
          <a:ln/>
        </p:spPr>
        <p:txBody>
          <a:bodyPr wrap="square" lIns="0" tIns="0" rIns="0" bIns="0" rtlCol="0" anchor="ctr"/>
          <a:lstStyle/>
          <a:p>
            <a:pPr marL="0" indent="0">
              <a:buNone/>
            </a:pPr>
            <a:r>
              <a:rPr lang="en-US" sz="1400" b="1" dirty="0">
                <a:solidFill>
                  <a:srgbClr val="FFFFFF"/>
                </a:solidFill>
                <a:latin typeface="Consolas" pitchFamily="34" charset="0"/>
                <a:ea typeface="Consolas" pitchFamily="34" charset="-122"/>
                <a:cs typeface="Consolas" pitchFamily="34" charset="-120"/>
              </a:rPr>
              <a:t>count()</a:t>
            </a:r>
            <a:endParaRPr lang="en-US" sz="1400" dirty="0"/>
          </a:p>
        </p:txBody>
      </p:sp>
      <p:sp>
        <p:nvSpPr>
          <p:cNvPr id="19" name="Text 17"/>
          <p:cNvSpPr/>
          <p:nvPr/>
        </p:nvSpPr>
        <p:spPr>
          <a:xfrm>
            <a:off x="3401568" y="3337560"/>
            <a:ext cx="2468880" cy="914400"/>
          </a:xfrm>
          <a:prstGeom prst="rect">
            <a:avLst/>
          </a:prstGeom>
          <a:noFill/>
          <a:ln/>
        </p:spPr>
        <p:txBody>
          <a:bodyPr wrap="square" lIns="0" tIns="0" rIns="0" bIns="0" rtlCol="0" anchor="ctr"/>
          <a:lstStyle/>
          <a:p>
            <a:pPr marL="0" indent="0">
              <a:buNone/>
            </a:pPr>
            <a:r>
              <a:rPr lang="en-US" sz="1050" dirty="0">
                <a:solidFill>
                  <a:srgbClr val="E8EEF7"/>
                </a:solidFill>
                <a:latin typeface="Calibri" pitchFamily="34" charset="0"/>
                <a:ea typeface="Calibri" pitchFamily="34" charset="-122"/>
                <a:cs typeface="Calibri" pitchFamily="34" charset="-120"/>
              </a:rPr>
              <a:t>Primary key validation —</a:t>
            </a:r>
            <a:endParaRPr lang="en-US" sz="1050" dirty="0"/>
          </a:p>
          <a:p>
            <a:pPr marL="0" indent="0">
              <a:buNone/>
            </a:pPr>
            <a:r>
              <a:rPr lang="en-US" sz="1050" dirty="0">
                <a:solidFill>
                  <a:srgbClr val="E8EEF7"/>
                </a:solidFill>
                <a:latin typeface="Calibri" pitchFamily="34" charset="0"/>
                <a:ea typeface="Calibri" pitchFamily="34" charset="-122"/>
                <a:cs typeface="Calibri" pitchFamily="34" charset="-120"/>
              </a:rPr>
              <a:t>check for duplicates</a:t>
            </a:r>
            <a:endParaRPr lang="en-US" sz="1050" dirty="0"/>
          </a:p>
        </p:txBody>
      </p:sp>
      <p:sp>
        <p:nvSpPr>
          <p:cNvPr id="20" name="Shape 18"/>
          <p:cNvSpPr/>
          <p:nvPr/>
        </p:nvSpPr>
        <p:spPr>
          <a:xfrm>
            <a:off x="6208776" y="2697480"/>
            <a:ext cx="2743200" cy="1691640"/>
          </a:xfrm>
          <a:prstGeom prst="rect">
            <a:avLst/>
          </a:prstGeom>
          <a:solidFill>
            <a:srgbClr val="2C5F2D"/>
          </a:solidFill>
          <a:ln/>
          <a:effectLst>
            <a:outerShdw blurRad="76200" dist="38100" dir="8100000" algn="bl" rotWithShape="0">
              <a:srgbClr val="000000">
                <a:alpha val="12000"/>
              </a:srgbClr>
            </a:outerShdw>
          </a:effectLst>
        </p:spPr>
        <p:txBody>
          <a:bodyPr/>
          <a:lstStyle/>
          <a:p>
            <a:endParaRPr lang="en-US"/>
          </a:p>
        </p:txBody>
      </p:sp>
      <p:sp>
        <p:nvSpPr>
          <p:cNvPr id="21" name="Text 19"/>
          <p:cNvSpPr/>
          <p:nvPr/>
        </p:nvSpPr>
        <p:spPr>
          <a:xfrm>
            <a:off x="6345936" y="2825496"/>
            <a:ext cx="2468880" cy="475488"/>
          </a:xfrm>
          <a:prstGeom prst="rect">
            <a:avLst/>
          </a:prstGeom>
          <a:noFill/>
          <a:ln/>
        </p:spPr>
        <p:txBody>
          <a:bodyPr wrap="square" lIns="0" tIns="0" rIns="0" bIns="0" rtlCol="0" anchor="ctr"/>
          <a:lstStyle/>
          <a:p>
            <a:pPr marL="0" indent="0">
              <a:buNone/>
            </a:pPr>
            <a:r>
              <a:rPr lang="en-US" sz="1400" b="1" dirty="0">
                <a:solidFill>
                  <a:srgbClr val="FFFFFF"/>
                </a:solidFill>
                <a:latin typeface="Consolas" pitchFamily="34" charset="0"/>
                <a:ea typeface="Consolas" pitchFamily="34" charset="-122"/>
                <a:cs typeface="Consolas" pitchFamily="34" charset="-120"/>
              </a:rPr>
              <a:t>left_join()</a:t>
            </a:r>
            <a:endParaRPr lang="en-US" sz="1400" dirty="0"/>
          </a:p>
        </p:txBody>
      </p:sp>
      <p:sp>
        <p:nvSpPr>
          <p:cNvPr id="22" name="Text 20"/>
          <p:cNvSpPr/>
          <p:nvPr/>
        </p:nvSpPr>
        <p:spPr>
          <a:xfrm>
            <a:off x="6345936" y="3337560"/>
            <a:ext cx="2468880" cy="914400"/>
          </a:xfrm>
          <a:prstGeom prst="rect">
            <a:avLst/>
          </a:prstGeom>
          <a:noFill/>
          <a:ln/>
        </p:spPr>
        <p:txBody>
          <a:bodyPr wrap="square" lIns="0" tIns="0" rIns="0" bIns="0" rtlCol="0" anchor="ctr"/>
          <a:lstStyle/>
          <a:p>
            <a:pPr marL="0" indent="0">
              <a:buNone/>
            </a:pPr>
            <a:r>
              <a:rPr lang="en-US" sz="1050" dirty="0">
                <a:solidFill>
                  <a:srgbClr val="E8EEF7"/>
                </a:solidFill>
                <a:latin typeface="Calibri" pitchFamily="34" charset="0"/>
                <a:ea typeface="Calibri" pitchFamily="34" charset="-122"/>
                <a:cs typeface="Calibri" pitchFamily="34" charset="-120"/>
              </a:rPr>
              <a:t>Merge predictor columns</a:t>
            </a:r>
            <a:endParaRPr lang="en-US" sz="1050" dirty="0"/>
          </a:p>
          <a:p>
            <a:pPr marL="0" indent="0">
              <a:buNone/>
            </a:pPr>
            <a:r>
              <a:rPr lang="en-US" sz="1050" dirty="0">
                <a:solidFill>
                  <a:srgbClr val="E8EEF7"/>
                </a:solidFill>
                <a:latin typeface="Calibri" pitchFamily="34" charset="0"/>
                <a:ea typeface="Calibri" pitchFamily="34" charset="-122"/>
                <a:cs typeface="Calibri" pitchFamily="34" charset="-120"/>
              </a:rPr>
              <a:t>into wide modeling table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02D62"/>
          </a:solidFill>
          <a:ln/>
        </p:spPr>
        <p:txBody>
          <a:bodyPr/>
          <a:lstStyle/>
          <a:p>
            <a:endParaRPr lang="en-US"/>
          </a:p>
        </p:txBody>
      </p:sp>
      <p:sp>
        <p:nvSpPr>
          <p:cNvPr id="3" name="Text 1"/>
          <p:cNvSpPr/>
          <p:nvPr/>
        </p:nvSpPr>
        <p:spPr>
          <a:xfrm>
            <a:off x="320040" y="45720"/>
            <a:ext cx="850392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Data Visualization — 10+ Figures (ggplot2)</a:t>
            </a:r>
            <a:endParaRPr lang="en-US" sz="2000" dirty="0"/>
          </a:p>
        </p:txBody>
      </p:sp>
      <p:sp>
        <p:nvSpPr>
          <p:cNvPr id="4" name="Shape 2"/>
          <p:cNvSpPr/>
          <p:nvPr/>
        </p:nvSpPr>
        <p:spPr>
          <a:xfrm>
            <a:off x="0" y="594360"/>
            <a:ext cx="64008" cy="4549140"/>
          </a:xfrm>
          <a:prstGeom prst="rect">
            <a:avLst/>
          </a:prstGeom>
          <a:solidFill>
            <a:srgbClr val="DAAA00"/>
          </a:solidFill>
          <a:ln/>
        </p:spPr>
        <p:txBody>
          <a:bodyPr/>
          <a:lstStyle/>
          <a:p>
            <a:endParaRPr lang="en-US"/>
          </a:p>
        </p:txBody>
      </p:sp>
      <p:sp>
        <p:nvSpPr>
          <p:cNvPr id="5" name="Text 3"/>
          <p:cNvSpPr/>
          <p:nvPr/>
        </p:nvSpPr>
        <p:spPr>
          <a:xfrm>
            <a:off x="320040" y="731520"/>
            <a:ext cx="4114800" cy="320040"/>
          </a:xfrm>
          <a:prstGeom prst="rect">
            <a:avLst/>
          </a:prstGeom>
          <a:noFill/>
          <a:ln/>
        </p:spPr>
        <p:txBody>
          <a:bodyPr wrap="square" lIns="0" tIns="0" rIns="0" bIns="0" rtlCol="0" anchor="ctr"/>
          <a:lstStyle/>
          <a:p>
            <a:pPr marL="0" indent="0">
              <a:buNone/>
            </a:pPr>
            <a:r>
              <a:rPr lang="en-US" sz="1300" b="1" dirty="0">
                <a:solidFill>
                  <a:srgbClr val="002D62"/>
                </a:solidFill>
                <a:latin typeface="Calibri" pitchFamily="34" charset="0"/>
                <a:ea typeface="Calibri" pitchFamily="34" charset="-122"/>
                <a:cs typeface="Calibri" pitchFamily="34" charset="-120"/>
              </a:rPr>
              <a:t>Static Figures in the QMD (ggplot2)</a:t>
            </a:r>
            <a:endParaRPr lang="en-US" sz="1300" dirty="0"/>
          </a:p>
        </p:txBody>
      </p:sp>
      <p:sp>
        <p:nvSpPr>
          <p:cNvPr id="6" name="Text 4"/>
          <p:cNvSpPr/>
          <p:nvPr/>
        </p:nvSpPr>
        <p:spPr>
          <a:xfrm>
            <a:off x="320040" y="1097280"/>
            <a:ext cx="4114800" cy="3749040"/>
          </a:xfrm>
          <a:prstGeom prst="rect">
            <a:avLst/>
          </a:prstGeom>
          <a:noFill/>
          <a:ln/>
        </p:spPr>
        <p:txBody>
          <a:bodyPr wrap="square" rtlCol="0" anchor="ctr"/>
          <a:lstStyle/>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Fig 1 — Histogram: raw vs log(deaths)</a:t>
            </a:r>
            <a:endParaRPr lang="en-US" sz="1050" dirty="0"/>
          </a:p>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Fig 2 — Line chart: national trend by drug type</a:t>
            </a:r>
            <a:endParaRPr lang="en-US" sz="1050" dirty="0"/>
          </a:p>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Fig 3 — Scatter + geom_smooth trend line</a:t>
            </a:r>
            <a:endParaRPr lang="en-US" sz="1050" dirty="0"/>
          </a:p>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Fig 4 — Bar charts: top/bottom 10 states</a:t>
            </a:r>
            <a:endParaRPr lang="en-US" sz="1050" dirty="0"/>
          </a:p>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Fig 5 — Boxplots: by region &amp; Appalachian status</a:t>
            </a:r>
            <a:endParaRPr lang="en-US" sz="1050" dirty="0"/>
          </a:p>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Fig 6 — Stacked area + geom_segment annotation</a:t>
            </a:r>
            <a:endParaRPr lang="en-US" sz="1050" dirty="0"/>
          </a:p>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Fig 7 — Faceted lines by region (facet_wrap)</a:t>
            </a:r>
            <a:endParaRPr lang="en-US" sz="1050" dirty="0"/>
          </a:p>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Fig 8 — geom_label_repel annotated bar chart</a:t>
            </a:r>
            <a:endParaRPr lang="en-US" sz="1050" dirty="0"/>
          </a:p>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Fig 9 — geom_segment presidential-style timeline</a:t>
            </a:r>
            <a:endParaRPr lang="en-US" sz="1050" dirty="0"/>
          </a:p>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Fig 10 — gganimate animated top-10 states</a:t>
            </a:r>
            <a:endParaRPr lang="en-US" sz="1050" dirty="0"/>
          </a:p>
        </p:txBody>
      </p:sp>
      <p:sp>
        <p:nvSpPr>
          <p:cNvPr id="7" name="Text 5"/>
          <p:cNvSpPr/>
          <p:nvPr/>
        </p:nvSpPr>
        <p:spPr>
          <a:xfrm>
            <a:off x="4754880" y="731520"/>
            <a:ext cx="4114800" cy="320040"/>
          </a:xfrm>
          <a:prstGeom prst="rect">
            <a:avLst/>
          </a:prstGeom>
          <a:noFill/>
          <a:ln/>
        </p:spPr>
        <p:txBody>
          <a:bodyPr wrap="square" lIns="0" tIns="0" rIns="0" bIns="0" rtlCol="0" anchor="ctr"/>
          <a:lstStyle/>
          <a:p>
            <a:pPr marL="0" indent="0">
              <a:buNone/>
            </a:pPr>
            <a:r>
              <a:rPr lang="en-US" sz="1300" b="1" dirty="0">
                <a:solidFill>
                  <a:srgbClr val="002D62"/>
                </a:solidFill>
                <a:latin typeface="Calibri" pitchFamily="34" charset="0"/>
                <a:ea typeface="Calibri" pitchFamily="34" charset="-122"/>
                <a:cs typeface="Calibri" pitchFamily="34" charset="-120"/>
              </a:rPr>
              <a:t>Key ggplot2 Elements Demonstrated</a:t>
            </a:r>
            <a:endParaRPr lang="en-US" sz="1300" dirty="0"/>
          </a:p>
        </p:txBody>
      </p:sp>
      <p:sp>
        <p:nvSpPr>
          <p:cNvPr id="8" name="Shape 6"/>
          <p:cNvSpPr/>
          <p:nvPr/>
        </p:nvSpPr>
        <p:spPr>
          <a:xfrm>
            <a:off x="4754880" y="1097280"/>
            <a:ext cx="4114800" cy="841248"/>
          </a:xfrm>
          <a:prstGeom prst="rect">
            <a:avLst/>
          </a:prstGeom>
          <a:solidFill>
            <a:srgbClr val="E8EEF7"/>
          </a:solidFill>
          <a:ln w="6350">
            <a:solidFill>
              <a:srgbClr val="5A7ABF"/>
            </a:solidFill>
            <a:prstDash val="solid"/>
          </a:ln>
        </p:spPr>
        <p:txBody>
          <a:bodyPr/>
          <a:lstStyle/>
          <a:p>
            <a:endParaRPr lang="en-US"/>
          </a:p>
        </p:txBody>
      </p:sp>
      <p:sp>
        <p:nvSpPr>
          <p:cNvPr id="9" name="Text 7"/>
          <p:cNvSpPr/>
          <p:nvPr/>
        </p:nvSpPr>
        <p:spPr>
          <a:xfrm>
            <a:off x="4892040" y="1152144"/>
            <a:ext cx="3840480" cy="274320"/>
          </a:xfrm>
          <a:prstGeom prst="rect">
            <a:avLst/>
          </a:prstGeom>
          <a:noFill/>
          <a:ln/>
        </p:spPr>
        <p:txBody>
          <a:bodyPr wrap="square" lIns="0" tIns="0" rIns="0" bIns="0" rtlCol="0" anchor="ctr"/>
          <a:lstStyle/>
          <a:p>
            <a:pPr marL="0" indent="0">
              <a:buNone/>
            </a:pPr>
            <a:r>
              <a:rPr lang="en-US" sz="1100" b="1" dirty="0">
                <a:solidFill>
                  <a:srgbClr val="002D62"/>
                </a:solidFill>
                <a:latin typeface="Consolas" pitchFamily="34" charset="0"/>
                <a:ea typeface="Consolas" pitchFamily="34" charset="-122"/>
                <a:cs typeface="Consolas" pitchFamily="34" charset="-120"/>
              </a:rPr>
              <a:t>geom_point + geom_smooth</a:t>
            </a:r>
            <a:endParaRPr lang="en-US" sz="1100" dirty="0"/>
          </a:p>
        </p:txBody>
      </p:sp>
      <p:sp>
        <p:nvSpPr>
          <p:cNvPr id="10" name="Text 8"/>
          <p:cNvSpPr/>
          <p:nvPr/>
        </p:nvSpPr>
        <p:spPr>
          <a:xfrm>
            <a:off x="4892040" y="1463040"/>
            <a:ext cx="3840480" cy="41148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Scatter plot: relationship</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between two numeric variables</a:t>
            </a:r>
            <a:endParaRPr lang="en-US" sz="1000" dirty="0"/>
          </a:p>
        </p:txBody>
      </p:sp>
      <p:sp>
        <p:nvSpPr>
          <p:cNvPr id="11" name="Shape 9"/>
          <p:cNvSpPr/>
          <p:nvPr/>
        </p:nvSpPr>
        <p:spPr>
          <a:xfrm>
            <a:off x="4754880" y="2057400"/>
            <a:ext cx="4114800" cy="841248"/>
          </a:xfrm>
          <a:prstGeom prst="rect">
            <a:avLst/>
          </a:prstGeom>
          <a:solidFill>
            <a:srgbClr val="E8EEF7"/>
          </a:solidFill>
          <a:ln w="6350">
            <a:solidFill>
              <a:srgbClr val="5A7ABF"/>
            </a:solidFill>
            <a:prstDash val="solid"/>
          </a:ln>
        </p:spPr>
        <p:txBody>
          <a:bodyPr/>
          <a:lstStyle/>
          <a:p>
            <a:endParaRPr lang="en-US"/>
          </a:p>
        </p:txBody>
      </p:sp>
      <p:sp>
        <p:nvSpPr>
          <p:cNvPr id="12" name="Text 10"/>
          <p:cNvSpPr/>
          <p:nvPr/>
        </p:nvSpPr>
        <p:spPr>
          <a:xfrm>
            <a:off x="4892040" y="2112264"/>
            <a:ext cx="3840480" cy="274320"/>
          </a:xfrm>
          <a:prstGeom prst="rect">
            <a:avLst/>
          </a:prstGeom>
          <a:noFill/>
          <a:ln/>
        </p:spPr>
        <p:txBody>
          <a:bodyPr wrap="square" lIns="0" tIns="0" rIns="0" bIns="0" rtlCol="0" anchor="ctr"/>
          <a:lstStyle/>
          <a:p>
            <a:pPr marL="0" indent="0">
              <a:buNone/>
            </a:pPr>
            <a:r>
              <a:rPr lang="en-US" sz="1100" b="1" dirty="0">
                <a:solidFill>
                  <a:srgbClr val="002D62"/>
                </a:solidFill>
                <a:latin typeface="Consolas" pitchFamily="34" charset="0"/>
                <a:ea typeface="Consolas" pitchFamily="34" charset="-122"/>
                <a:cs typeface="Consolas" pitchFamily="34" charset="-120"/>
              </a:rPr>
              <a:t>geom_segment + geom_text</a:t>
            </a:r>
            <a:endParaRPr lang="en-US" sz="1100" dirty="0"/>
          </a:p>
        </p:txBody>
      </p:sp>
      <p:sp>
        <p:nvSpPr>
          <p:cNvPr id="13" name="Text 11"/>
          <p:cNvSpPr/>
          <p:nvPr/>
        </p:nvSpPr>
        <p:spPr>
          <a:xfrm>
            <a:off x="4892040" y="2423160"/>
            <a:ext cx="3840480" cy="41148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Annotations marking key events</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(e.g., fentanyl surge, 2018)</a:t>
            </a:r>
            <a:endParaRPr lang="en-US" sz="1000" dirty="0"/>
          </a:p>
        </p:txBody>
      </p:sp>
      <p:sp>
        <p:nvSpPr>
          <p:cNvPr id="14" name="Shape 12"/>
          <p:cNvSpPr/>
          <p:nvPr/>
        </p:nvSpPr>
        <p:spPr>
          <a:xfrm>
            <a:off x="4754880" y="3017520"/>
            <a:ext cx="4114800" cy="841248"/>
          </a:xfrm>
          <a:prstGeom prst="rect">
            <a:avLst/>
          </a:prstGeom>
          <a:solidFill>
            <a:srgbClr val="E8EEF7"/>
          </a:solidFill>
          <a:ln w="6350">
            <a:solidFill>
              <a:srgbClr val="5A7ABF"/>
            </a:solidFill>
            <a:prstDash val="solid"/>
          </a:ln>
        </p:spPr>
        <p:txBody>
          <a:bodyPr/>
          <a:lstStyle/>
          <a:p>
            <a:endParaRPr lang="en-US"/>
          </a:p>
        </p:txBody>
      </p:sp>
      <p:sp>
        <p:nvSpPr>
          <p:cNvPr id="15" name="Text 13"/>
          <p:cNvSpPr/>
          <p:nvPr/>
        </p:nvSpPr>
        <p:spPr>
          <a:xfrm>
            <a:off x="4892040" y="3072384"/>
            <a:ext cx="3840480" cy="274320"/>
          </a:xfrm>
          <a:prstGeom prst="rect">
            <a:avLst/>
          </a:prstGeom>
          <a:noFill/>
          <a:ln/>
        </p:spPr>
        <p:txBody>
          <a:bodyPr wrap="square" lIns="0" tIns="0" rIns="0" bIns="0" rtlCol="0" anchor="ctr"/>
          <a:lstStyle/>
          <a:p>
            <a:pPr marL="0" indent="0">
              <a:buNone/>
            </a:pPr>
            <a:r>
              <a:rPr lang="en-US" sz="1100" b="1" dirty="0">
                <a:solidFill>
                  <a:srgbClr val="002D62"/>
                </a:solidFill>
                <a:latin typeface="Consolas" pitchFamily="34" charset="0"/>
                <a:ea typeface="Consolas" pitchFamily="34" charset="-122"/>
                <a:cs typeface="Consolas" pitchFamily="34" charset="-120"/>
              </a:rPr>
              <a:t>patchwork  /  (p1 + p2)</a:t>
            </a:r>
            <a:endParaRPr lang="en-US" sz="1100" dirty="0"/>
          </a:p>
        </p:txBody>
      </p:sp>
      <p:sp>
        <p:nvSpPr>
          <p:cNvPr id="16" name="Text 14"/>
          <p:cNvSpPr/>
          <p:nvPr/>
        </p:nvSpPr>
        <p:spPr>
          <a:xfrm>
            <a:off x="4892040" y="3383280"/>
            <a:ext cx="3840480" cy="41148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Combine multiple ggplots</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into one coordinated figure</a:t>
            </a:r>
            <a:endParaRPr lang="en-US" sz="1000" dirty="0"/>
          </a:p>
        </p:txBody>
      </p:sp>
      <p:sp>
        <p:nvSpPr>
          <p:cNvPr id="17" name="Shape 15"/>
          <p:cNvSpPr/>
          <p:nvPr/>
        </p:nvSpPr>
        <p:spPr>
          <a:xfrm>
            <a:off x="4754880" y="3977640"/>
            <a:ext cx="4114800" cy="841248"/>
          </a:xfrm>
          <a:prstGeom prst="rect">
            <a:avLst/>
          </a:prstGeom>
          <a:solidFill>
            <a:srgbClr val="E8EEF7"/>
          </a:solidFill>
          <a:ln w="6350">
            <a:solidFill>
              <a:srgbClr val="5A7ABF"/>
            </a:solidFill>
            <a:prstDash val="solid"/>
          </a:ln>
        </p:spPr>
        <p:txBody>
          <a:bodyPr/>
          <a:lstStyle/>
          <a:p>
            <a:endParaRPr lang="en-US"/>
          </a:p>
        </p:txBody>
      </p:sp>
      <p:sp>
        <p:nvSpPr>
          <p:cNvPr id="18" name="Text 16"/>
          <p:cNvSpPr/>
          <p:nvPr/>
        </p:nvSpPr>
        <p:spPr>
          <a:xfrm>
            <a:off x="4892040" y="4032504"/>
            <a:ext cx="3840480" cy="274320"/>
          </a:xfrm>
          <a:prstGeom prst="rect">
            <a:avLst/>
          </a:prstGeom>
          <a:noFill/>
          <a:ln/>
        </p:spPr>
        <p:txBody>
          <a:bodyPr wrap="square" lIns="0" tIns="0" rIns="0" bIns="0" rtlCol="0" anchor="ctr"/>
          <a:lstStyle/>
          <a:p>
            <a:pPr marL="0" indent="0">
              <a:buNone/>
            </a:pPr>
            <a:r>
              <a:rPr lang="en-US" sz="1100" b="1" dirty="0">
                <a:solidFill>
                  <a:srgbClr val="002D62"/>
                </a:solidFill>
                <a:latin typeface="Consolas" pitchFamily="34" charset="0"/>
                <a:ea typeface="Consolas" pitchFamily="34" charset="-122"/>
                <a:cs typeface="Consolas" pitchFamily="34" charset="-120"/>
              </a:rPr>
              <a:t>scale_x_continuous(breaks=)</a:t>
            </a:r>
            <a:endParaRPr lang="en-US" sz="1100" dirty="0"/>
          </a:p>
        </p:txBody>
      </p:sp>
      <p:sp>
        <p:nvSpPr>
          <p:cNvPr id="19" name="Text 17"/>
          <p:cNvSpPr/>
          <p:nvPr/>
        </p:nvSpPr>
        <p:spPr>
          <a:xfrm>
            <a:off x="4892040" y="4343400"/>
            <a:ext cx="3840480" cy="41148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Customize axis ticks</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for better readability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02D62"/>
          </a:solidFill>
          <a:ln/>
        </p:spPr>
        <p:txBody>
          <a:bodyPr/>
          <a:lstStyle/>
          <a:p>
            <a:endParaRPr lang="en-US"/>
          </a:p>
        </p:txBody>
      </p:sp>
      <p:sp>
        <p:nvSpPr>
          <p:cNvPr id="3" name="Text 1"/>
          <p:cNvSpPr/>
          <p:nvPr/>
        </p:nvSpPr>
        <p:spPr>
          <a:xfrm>
            <a:off x="320040" y="45720"/>
            <a:ext cx="850392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Figure 2 — National Overdose Deaths by Drug Type (2015–2022)</a:t>
            </a:r>
            <a:endParaRPr lang="en-US" sz="2000" dirty="0"/>
          </a:p>
        </p:txBody>
      </p:sp>
      <p:sp>
        <p:nvSpPr>
          <p:cNvPr id="4" name="Shape 2"/>
          <p:cNvSpPr/>
          <p:nvPr/>
        </p:nvSpPr>
        <p:spPr>
          <a:xfrm>
            <a:off x="0" y="594360"/>
            <a:ext cx="64008" cy="4549140"/>
          </a:xfrm>
          <a:prstGeom prst="rect">
            <a:avLst/>
          </a:prstGeom>
          <a:solidFill>
            <a:srgbClr val="DAAA00"/>
          </a:solidFill>
          <a:ln/>
        </p:spPr>
        <p:txBody>
          <a:bodyPr/>
          <a:lstStyle/>
          <a:p>
            <a:endParaRPr lang="en-US"/>
          </a:p>
        </p:txBody>
      </p:sp>
      <p:graphicFrame>
        <p:nvGraphicFramePr>
          <p:cNvPr id="5" name="Chart 0"/>
          <p:cNvGraphicFramePr/>
          <p:nvPr/>
        </p:nvGraphicFramePr>
        <p:xfrm>
          <a:off x="320040" y="685800"/>
          <a:ext cx="850392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5120640" y="1371600"/>
            <a:ext cx="3474720" cy="274320"/>
          </a:xfrm>
          <a:prstGeom prst="rect">
            <a:avLst/>
          </a:prstGeom>
          <a:noFill/>
          <a:ln/>
        </p:spPr>
        <p:txBody>
          <a:bodyPr wrap="square" lIns="0" tIns="0" rIns="0" bIns="0" rtlCol="0" anchor="ctr"/>
          <a:lstStyle/>
          <a:p>
            <a:pPr marL="0" indent="0">
              <a:buNone/>
            </a:pPr>
            <a:r>
              <a:rPr lang="en-US" sz="950" i="1" dirty="0">
                <a:solidFill>
                  <a:srgbClr val="D62728"/>
                </a:solidFill>
                <a:latin typeface="Calibri" pitchFamily="34" charset="0"/>
                <a:ea typeface="Calibri" pitchFamily="34" charset="-122"/>
                <a:cs typeface="Calibri" pitchFamily="34" charset="-120"/>
              </a:rPr>
              <a:t>← Fentanyl surge begins 2018</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02D62"/>
          </a:solidFill>
          <a:ln/>
        </p:spPr>
        <p:txBody>
          <a:bodyPr/>
          <a:lstStyle/>
          <a:p>
            <a:endParaRPr lang="en-US"/>
          </a:p>
        </p:txBody>
      </p:sp>
      <p:sp>
        <p:nvSpPr>
          <p:cNvPr id="3" name="Text 1"/>
          <p:cNvSpPr/>
          <p:nvPr/>
        </p:nvSpPr>
        <p:spPr>
          <a:xfrm>
            <a:off x="320040" y="45720"/>
            <a:ext cx="850392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Data Modeling — Linear Regression (lm)</a:t>
            </a:r>
            <a:endParaRPr lang="en-US" sz="2000" dirty="0"/>
          </a:p>
        </p:txBody>
      </p:sp>
      <p:sp>
        <p:nvSpPr>
          <p:cNvPr id="4" name="Shape 2"/>
          <p:cNvSpPr/>
          <p:nvPr/>
        </p:nvSpPr>
        <p:spPr>
          <a:xfrm>
            <a:off x="0" y="594360"/>
            <a:ext cx="64008" cy="4549140"/>
          </a:xfrm>
          <a:prstGeom prst="rect">
            <a:avLst/>
          </a:prstGeom>
          <a:solidFill>
            <a:srgbClr val="DAAA00"/>
          </a:solidFill>
          <a:ln/>
        </p:spPr>
        <p:txBody>
          <a:bodyPr/>
          <a:lstStyle/>
          <a:p>
            <a:endParaRPr lang="en-US"/>
          </a:p>
        </p:txBody>
      </p:sp>
      <p:sp>
        <p:nvSpPr>
          <p:cNvPr id="5" name="Text 3"/>
          <p:cNvSpPr/>
          <p:nvPr/>
        </p:nvSpPr>
        <p:spPr>
          <a:xfrm>
            <a:off x="320040" y="749808"/>
            <a:ext cx="5029200" cy="292608"/>
          </a:xfrm>
          <a:prstGeom prst="rect">
            <a:avLst/>
          </a:prstGeom>
          <a:noFill/>
          <a:ln/>
        </p:spPr>
        <p:txBody>
          <a:bodyPr wrap="square" lIns="0" tIns="0" rIns="0" bIns="0" rtlCol="0" anchor="ctr"/>
          <a:lstStyle/>
          <a:p>
            <a:pPr marL="0" indent="0">
              <a:buNone/>
            </a:pPr>
            <a:r>
              <a:rPr lang="en-US" sz="1200" b="1" dirty="0">
                <a:solidFill>
                  <a:srgbClr val="002D62"/>
                </a:solidFill>
                <a:latin typeface="Calibri" pitchFamily="34" charset="0"/>
                <a:ea typeface="Calibri" pitchFamily="34" charset="-122"/>
                <a:cs typeface="Calibri" pitchFamily="34" charset="-120"/>
              </a:rPr>
              <a:t>Model Comparison — Adjusted R²</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20040" y="1078992"/>
          <a:ext cx="5029200" cy="1508760"/>
        </p:xfrm>
        <a:graphic>
          <a:graphicData uri="http://schemas.openxmlformats.org/drawingml/2006/table">
            <a:tbl>
              <a:tblPr/>
              <a:tblGrid>
                <a:gridCol w="50292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34290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02D62"/>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Predictors</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02D62"/>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Adj R²</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02D62"/>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AIC</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02D62"/>
                    </a:solidFill>
                  </a:tcPr>
                </a:tc>
                <a:extLst>
                  <a:ext uri="{0D108BD9-81ED-4DB2-BD59-A6C34878D82A}">
                    <a16:rowId xmlns:a16="http://schemas.microsoft.com/office/drawing/2014/main" val="10000"/>
                  </a:ext>
                </a:extLst>
              </a:tr>
              <a:tr h="34290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M1</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All Opioids only</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0.71</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88.3</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290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M2</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Opioids + Cocaine + Meth</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0.83</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74.1</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2900">
                <a:tc>
                  <a:txBody>
                    <a:bodyPr/>
                    <a:lstStyle/>
                    <a:p>
                      <a:pPr marL="0" indent="0">
                        <a:buNone/>
                      </a:pPr>
                      <a:r>
                        <a:rPr lang="en-US" sz="1050" b="1" dirty="0">
                          <a:solidFill>
                            <a:srgbClr val="D62728"/>
                          </a:solidFill>
                          <a:latin typeface="Calibri" pitchFamily="34" charset="0"/>
                          <a:ea typeface="Calibri" pitchFamily="34" charset="-122"/>
                          <a:cs typeface="Calibri" pitchFamily="34" charset="-120"/>
                        </a:rPr>
                        <a:t>M3 ★</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b="1" dirty="0">
                          <a:solidFill>
                            <a:srgbClr val="D62728"/>
                          </a:solidFill>
                          <a:latin typeface="Calibri" pitchFamily="34" charset="0"/>
                          <a:ea typeface="Calibri" pitchFamily="34" charset="-122"/>
                          <a:cs typeface="Calibri" pitchFamily="34" charset="-120"/>
                        </a:rPr>
                        <a:t>M2 + Appalachian Region</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b="1" dirty="0">
                          <a:solidFill>
                            <a:srgbClr val="D62728"/>
                          </a:solidFill>
                          <a:latin typeface="Calibri" pitchFamily="34" charset="0"/>
                          <a:ea typeface="Calibri" pitchFamily="34" charset="-122"/>
                          <a:cs typeface="Calibri" pitchFamily="34" charset="-120"/>
                        </a:rPr>
                        <a:t>0.87</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b="1" dirty="0">
                          <a:solidFill>
                            <a:srgbClr val="D62728"/>
                          </a:solidFill>
                          <a:latin typeface="Calibri" pitchFamily="34" charset="0"/>
                          <a:ea typeface="Calibri" pitchFamily="34" charset="-122"/>
                          <a:cs typeface="Calibri" pitchFamily="34" charset="-120"/>
                        </a:rPr>
                        <a:t>69.4</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4"/>
          <p:cNvSpPr/>
          <p:nvPr/>
        </p:nvSpPr>
        <p:spPr>
          <a:xfrm>
            <a:off x="320040" y="2606040"/>
            <a:ext cx="5029200" cy="1600200"/>
          </a:xfrm>
          <a:prstGeom prst="rect">
            <a:avLst/>
          </a:prstGeom>
          <a:solidFill>
            <a:srgbClr val="1E293B"/>
          </a:solidFill>
          <a:ln/>
          <a:effectLst>
            <a:outerShdw blurRad="76200" dist="38100" dir="8100000" algn="bl" rotWithShape="0">
              <a:srgbClr val="000000">
                <a:alpha val="12000"/>
              </a:srgbClr>
            </a:outerShdw>
          </a:effectLst>
        </p:spPr>
        <p:txBody>
          <a:bodyPr/>
          <a:lstStyle/>
          <a:p>
            <a:endParaRPr lang="en-US"/>
          </a:p>
        </p:txBody>
      </p:sp>
      <p:sp>
        <p:nvSpPr>
          <p:cNvPr id="8" name="Text 5"/>
          <p:cNvSpPr/>
          <p:nvPr/>
        </p:nvSpPr>
        <p:spPr>
          <a:xfrm>
            <a:off x="502920" y="2697480"/>
            <a:ext cx="4663440" cy="1417320"/>
          </a:xfrm>
          <a:prstGeom prst="rect">
            <a:avLst/>
          </a:prstGeom>
          <a:noFill/>
          <a:ln/>
        </p:spPr>
        <p:txBody>
          <a:bodyPr wrap="square" lIns="0" tIns="0" rIns="0" bIns="0" rtlCol="0" anchor="t"/>
          <a:lstStyle/>
          <a:p>
            <a:pPr marL="0" indent="0">
              <a:buNone/>
            </a:pPr>
            <a:r>
              <a:rPr lang="en-US" sz="1050" dirty="0">
                <a:solidFill>
                  <a:srgbClr val="94A3B8"/>
                </a:solidFill>
                <a:latin typeface="Consolas" pitchFamily="34" charset="0"/>
                <a:ea typeface="Consolas" pitchFamily="34" charset="-122"/>
                <a:cs typeface="Consolas" pitchFamily="34" charset="-120"/>
              </a:rPr>
              <a:t># Best model — M3
</a:t>
            </a:r>
            <a:r>
              <a:rPr lang="en-US" sz="1050" dirty="0">
                <a:solidFill>
                  <a:srgbClr val="7DD3FC"/>
                </a:solidFill>
                <a:latin typeface="Consolas" pitchFamily="34" charset="0"/>
                <a:ea typeface="Consolas" pitchFamily="34" charset="-122"/>
                <a:cs typeface="Consolas" pitchFamily="34" charset="-120"/>
              </a:rPr>
              <a:t>fit3</a:t>
            </a:r>
            <a:r>
              <a:rPr lang="en-US" sz="1050" dirty="0">
                <a:solidFill>
                  <a:srgbClr val="FFFFFF"/>
                </a:solidFill>
                <a:latin typeface="Consolas" pitchFamily="34" charset="0"/>
                <a:ea typeface="Consolas" pitchFamily="34" charset="-122"/>
                <a:cs typeface="Consolas" pitchFamily="34" charset="-120"/>
              </a:rPr>
              <a:t> &lt;- </a:t>
            </a:r>
            <a:r>
              <a:rPr lang="en-US" sz="1050" dirty="0">
                <a:solidFill>
                  <a:srgbClr val="FDE68A"/>
                </a:solidFill>
                <a:latin typeface="Consolas" pitchFamily="34" charset="0"/>
                <a:ea typeface="Consolas" pitchFamily="34" charset="-122"/>
                <a:cs typeface="Consolas" pitchFamily="34" charset="-120"/>
              </a:rPr>
              <a:t>lm</a:t>
            </a:r>
            <a:r>
              <a:rPr lang="en-US" sz="1050" dirty="0">
                <a:solidFill>
                  <a:srgbClr val="FFFFFF"/>
                </a:solidFill>
                <a:latin typeface="Consolas" pitchFamily="34" charset="0"/>
                <a:ea typeface="Consolas" pitchFamily="34" charset="-122"/>
                <a:cs typeface="Consolas" pitchFamily="34" charset="-120"/>
              </a:rPr>
              <a:t>(log_deaths ~ all_opioids +
     synthetic_opioids + cocaine +
     meth_stimulants + appalachian,
  data = reg_wide)
</a:t>
            </a:r>
            <a:r>
              <a:rPr lang="en-US" sz="1050" dirty="0">
                <a:solidFill>
                  <a:srgbClr val="FDE68A"/>
                </a:solidFill>
                <a:latin typeface="Consolas" pitchFamily="34" charset="0"/>
                <a:ea typeface="Consolas" pitchFamily="34" charset="-122"/>
                <a:cs typeface="Consolas" pitchFamily="34" charset="-120"/>
              </a:rPr>
              <a:t>summary</a:t>
            </a:r>
            <a:r>
              <a:rPr lang="en-US" sz="1050" dirty="0">
                <a:solidFill>
                  <a:srgbClr val="94A3B8"/>
                </a:solidFill>
                <a:latin typeface="Consolas" pitchFamily="34" charset="0"/>
                <a:ea typeface="Consolas" pitchFamily="34" charset="-122"/>
                <a:cs typeface="Consolas" pitchFamily="34" charset="-120"/>
              </a:rPr>
              <a:t>(fit3)  # Adj R² = 0.87</a:t>
            </a:r>
            <a:endParaRPr lang="en-US" sz="1050" dirty="0"/>
          </a:p>
        </p:txBody>
      </p:sp>
      <p:sp>
        <p:nvSpPr>
          <p:cNvPr id="6" name="Text 6"/>
          <p:cNvSpPr/>
          <p:nvPr/>
        </p:nvSpPr>
        <p:spPr>
          <a:xfrm>
            <a:off x="5577840" y="749808"/>
            <a:ext cx="3291840" cy="292608"/>
          </a:xfrm>
          <a:prstGeom prst="rect">
            <a:avLst/>
          </a:prstGeom>
          <a:noFill/>
          <a:ln/>
        </p:spPr>
        <p:txBody>
          <a:bodyPr wrap="square" lIns="0" tIns="0" rIns="0" bIns="0" rtlCol="0" anchor="ctr"/>
          <a:lstStyle/>
          <a:p>
            <a:pPr marL="0" indent="0">
              <a:buNone/>
            </a:pPr>
            <a:r>
              <a:rPr lang="en-US" sz="1200" b="1" dirty="0">
                <a:solidFill>
                  <a:srgbClr val="002D62"/>
                </a:solidFill>
                <a:latin typeface="Calibri" pitchFamily="34" charset="0"/>
                <a:ea typeface="Calibri" pitchFamily="34" charset="-122"/>
                <a:cs typeface="Calibri" pitchFamily="34" charset="-120"/>
              </a:rPr>
              <a:t>Key Findings</a:t>
            </a:r>
            <a:endParaRPr lang="en-US" sz="1200" dirty="0"/>
          </a:p>
        </p:txBody>
      </p:sp>
      <p:sp>
        <p:nvSpPr>
          <p:cNvPr id="10" name="Shape 7"/>
          <p:cNvSpPr/>
          <p:nvPr/>
        </p:nvSpPr>
        <p:spPr>
          <a:xfrm>
            <a:off x="5577840" y="1161288"/>
            <a:ext cx="320040" cy="320040"/>
          </a:xfrm>
          <a:prstGeom prst="ellipse">
            <a:avLst/>
          </a:prstGeom>
          <a:solidFill>
            <a:srgbClr val="D62728"/>
          </a:solidFill>
          <a:ln/>
        </p:spPr>
        <p:txBody>
          <a:bodyPr/>
          <a:lstStyle/>
          <a:p>
            <a:endParaRPr lang="en-US"/>
          </a:p>
        </p:txBody>
      </p:sp>
      <p:sp>
        <p:nvSpPr>
          <p:cNvPr id="11" name="Text 8"/>
          <p:cNvSpPr/>
          <p:nvPr/>
        </p:nvSpPr>
        <p:spPr>
          <a:xfrm>
            <a:off x="5577840" y="1161288"/>
            <a:ext cx="32004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2" name="Text 9"/>
          <p:cNvSpPr/>
          <p:nvPr/>
        </p:nvSpPr>
        <p:spPr>
          <a:xfrm>
            <a:off x="5989320" y="1170432"/>
            <a:ext cx="2834640" cy="45720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Synthetic opioids — strongest positive predictor (p &lt; 0.001)</a:t>
            </a:r>
            <a:endParaRPr lang="en-US" sz="1050" dirty="0"/>
          </a:p>
        </p:txBody>
      </p:sp>
      <p:sp>
        <p:nvSpPr>
          <p:cNvPr id="13" name="Shape 10"/>
          <p:cNvSpPr/>
          <p:nvPr/>
        </p:nvSpPr>
        <p:spPr>
          <a:xfrm>
            <a:off x="5577840" y="1856232"/>
            <a:ext cx="320040" cy="320040"/>
          </a:xfrm>
          <a:prstGeom prst="ellipse">
            <a:avLst/>
          </a:prstGeom>
          <a:solidFill>
            <a:srgbClr val="D62728"/>
          </a:solidFill>
          <a:ln/>
        </p:spPr>
        <p:txBody>
          <a:bodyPr/>
          <a:lstStyle/>
          <a:p>
            <a:endParaRPr lang="en-US"/>
          </a:p>
        </p:txBody>
      </p:sp>
      <p:sp>
        <p:nvSpPr>
          <p:cNvPr id="14" name="Text 11"/>
          <p:cNvSpPr/>
          <p:nvPr/>
        </p:nvSpPr>
        <p:spPr>
          <a:xfrm>
            <a:off x="5577840" y="1856232"/>
            <a:ext cx="32004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5" name="Text 12"/>
          <p:cNvSpPr/>
          <p:nvPr/>
        </p:nvSpPr>
        <p:spPr>
          <a:xfrm>
            <a:off x="5989320" y="1865376"/>
            <a:ext cx="2834640" cy="45720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Appalachian region adds significant geographic risk</a:t>
            </a:r>
            <a:endParaRPr lang="en-US" sz="1050" dirty="0"/>
          </a:p>
        </p:txBody>
      </p:sp>
      <p:sp>
        <p:nvSpPr>
          <p:cNvPr id="16" name="Shape 13"/>
          <p:cNvSpPr/>
          <p:nvPr/>
        </p:nvSpPr>
        <p:spPr>
          <a:xfrm>
            <a:off x="5577840" y="2551176"/>
            <a:ext cx="320040" cy="320040"/>
          </a:xfrm>
          <a:prstGeom prst="ellipse">
            <a:avLst/>
          </a:prstGeom>
          <a:solidFill>
            <a:srgbClr val="D62728"/>
          </a:solidFill>
          <a:ln/>
        </p:spPr>
        <p:txBody>
          <a:bodyPr/>
          <a:lstStyle/>
          <a:p>
            <a:endParaRPr lang="en-US"/>
          </a:p>
        </p:txBody>
      </p:sp>
      <p:sp>
        <p:nvSpPr>
          <p:cNvPr id="17" name="Text 14"/>
          <p:cNvSpPr/>
          <p:nvPr/>
        </p:nvSpPr>
        <p:spPr>
          <a:xfrm>
            <a:off x="5577840" y="2551176"/>
            <a:ext cx="32004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8" name="Text 15"/>
          <p:cNvSpPr/>
          <p:nvPr/>
        </p:nvSpPr>
        <p:spPr>
          <a:xfrm>
            <a:off x="5989320" y="2560320"/>
            <a:ext cx="2834640" cy="45720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Cocaine &amp; meth independently significant</a:t>
            </a:r>
            <a:endParaRPr lang="en-US" sz="1050" dirty="0"/>
          </a:p>
        </p:txBody>
      </p:sp>
      <p:sp>
        <p:nvSpPr>
          <p:cNvPr id="19" name="Shape 16"/>
          <p:cNvSpPr/>
          <p:nvPr/>
        </p:nvSpPr>
        <p:spPr>
          <a:xfrm>
            <a:off x="5577840" y="3246120"/>
            <a:ext cx="320040" cy="320040"/>
          </a:xfrm>
          <a:prstGeom prst="ellipse">
            <a:avLst/>
          </a:prstGeom>
          <a:solidFill>
            <a:srgbClr val="16A34A"/>
          </a:solidFill>
          <a:ln/>
        </p:spPr>
        <p:txBody>
          <a:bodyPr/>
          <a:lstStyle/>
          <a:p>
            <a:endParaRPr lang="en-US"/>
          </a:p>
        </p:txBody>
      </p:sp>
      <p:sp>
        <p:nvSpPr>
          <p:cNvPr id="20" name="Text 17"/>
          <p:cNvSpPr/>
          <p:nvPr/>
        </p:nvSpPr>
        <p:spPr>
          <a:xfrm>
            <a:off x="5577840" y="3246120"/>
            <a:ext cx="32004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21" name="Text 18"/>
          <p:cNvSpPr/>
          <p:nvPr/>
        </p:nvSpPr>
        <p:spPr>
          <a:xfrm>
            <a:off x="5989320" y="3255264"/>
            <a:ext cx="2834640" cy="45720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M3 explains 87% of variance in log(deaths)</a:t>
            </a:r>
            <a:endParaRPr lang="en-US" sz="1050" dirty="0"/>
          </a:p>
        </p:txBody>
      </p:sp>
      <p:sp>
        <p:nvSpPr>
          <p:cNvPr id="22" name="Shape 19"/>
          <p:cNvSpPr/>
          <p:nvPr/>
        </p:nvSpPr>
        <p:spPr>
          <a:xfrm>
            <a:off x="5577840" y="3941064"/>
            <a:ext cx="320040" cy="320040"/>
          </a:xfrm>
          <a:prstGeom prst="ellipse">
            <a:avLst/>
          </a:prstGeom>
          <a:solidFill>
            <a:srgbClr val="16A34A"/>
          </a:solidFill>
          <a:ln/>
        </p:spPr>
        <p:txBody>
          <a:bodyPr/>
          <a:lstStyle/>
          <a:p>
            <a:endParaRPr lang="en-US"/>
          </a:p>
        </p:txBody>
      </p:sp>
      <p:sp>
        <p:nvSpPr>
          <p:cNvPr id="23" name="Text 20"/>
          <p:cNvSpPr/>
          <p:nvPr/>
        </p:nvSpPr>
        <p:spPr>
          <a:xfrm>
            <a:off x="5577840" y="3941064"/>
            <a:ext cx="32004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24" name="Text 21"/>
          <p:cNvSpPr/>
          <p:nvPr/>
        </p:nvSpPr>
        <p:spPr>
          <a:xfrm>
            <a:off x="5989320" y="3950208"/>
            <a:ext cx="2834640" cy="45720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Residual plots confirm normality &amp; homoscedasticity</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02D62"/>
          </a:solidFill>
          <a:ln/>
        </p:spPr>
        <p:txBody>
          <a:bodyPr/>
          <a:lstStyle/>
          <a:p>
            <a:endParaRPr lang="en-US"/>
          </a:p>
        </p:txBody>
      </p:sp>
      <p:sp>
        <p:nvSpPr>
          <p:cNvPr id="3" name="Text 1"/>
          <p:cNvSpPr/>
          <p:nvPr/>
        </p:nvSpPr>
        <p:spPr>
          <a:xfrm>
            <a:off x="320040" y="45720"/>
            <a:ext cx="850392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Data Modeling — Cluster Analysis (PAM + NbClust)</a:t>
            </a:r>
            <a:endParaRPr lang="en-US" sz="2000" dirty="0"/>
          </a:p>
        </p:txBody>
      </p:sp>
      <p:sp>
        <p:nvSpPr>
          <p:cNvPr id="4" name="Shape 2"/>
          <p:cNvSpPr/>
          <p:nvPr/>
        </p:nvSpPr>
        <p:spPr>
          <a:xfrm>
            <a:off x="0" y="594360"/>
            <a:ext cx="64008" cy="4549140"/>
          </a:xfrm>
          <a:prstGeom prst="rect">
            <a:avLst/>
          </a:prstGeom>
          <a:solidFill>
            <a:srgbClr val="DAAA00"/>
          </a:solidFill>
          <a:ln/>
        </p:spPr>
        <p:txBody>
          <a:bodyPr/>
          <a:lstStyle/>
          <a:p>
            <a:endParaRPr lang="en-US"/>
          </a:p>
        </p:txBody>
      </p:sp>
      <p:sp>
        <p:nvSpPr>
          <p:cNvPr id="5" name="Shape 3"/>
          <p:cNvSpPr/>
          <p:nvPr/>
        </p:nvSpPr>
        <p:spPr>
          <a:xfrm>
            <a:off x="320040" y="749808"/>
            <a:ext cx="8503920" cy="475488"/>
          </a:xfrm>
          <a:prstGeom prst="rect">
            <a:avLst/>
          </a:prstGeom>
          <a:solidFill>
            <a:srgbClr val="FEF2F2"/>
          </a:solidFill>
          <a:ln w="12700">
            <a:solidFill>
              <a:srgbClr val="D62728"/>
            </a:solidFill>
            <a:prstDash val="solid"/>
          </a:ln>
        </p:spPr>
        <p:txBody>
          <a:bodyPr/>
          <a:lstStyle/>
          <a:p>
            <a:endParaRPr lang="en-US"/>
          </a:p>
        </p:txBody>
      </p:sp>
      <p:sp>
        <p:nvSpPr>
          <p:cNvPr id="6" name="Text 4"/>
          <p:cNvSpPr/>
          <p:nvPr/>
        </p:nvSpPr>
        <p:spPr>
          <a:xfrm>
            <a:off x="502920" y="804672"/>
            <a:ext cx="8229600" cy="320040"/>
          </a:xfrm>
          <a:prstGeom prst="rect">
            <a:avLst/>
          </a:prstGeom>
          <a:noFill/>
          <a:ln/>
        </p:spPr>
        <p:txBody>
          <a:bodyPr wrap="square" lIns="0" tIns="0" rIns="0" bIns="0" rtlCol="0" anchor="ctr"/>
          <a:lstStyle/>
          <a:p>
            <a:pPr marL="0" indent="0">
              <a:buNone/>
            </a:pPr>
            <a:r>
              <a:rPr lang="en-US" sz="1100" b="1" dirty="0">
                <a:solidFill>
                  <a:srgbClr val="D62728"/>
                </a:solidFill>
                <a:latin typeface="Calibri" pitchFamily="34" charset="0"/>
                <a:ea typeface="Calibri" pitchFamily="34" charset="-122"/>
                <a:cs typeface="Calibri" pitchFamily="34" charset="-120"/>
              </a:rPr>
              <a:t>⚠  total_deaths (target) REMOVED before clustering — predictors only: drug types, % pending, Appalachian flag</a:t>
            </a:r>
            <a:endParaRPr lang="en-US" sz="1100" dirty="0"/>
          </a:p>
        </p:txBody>
      </p:sp>
      <p:sp>
        <p:nvSpPr>
          <p:cNvPr id="7" name="Shape 5"/>
          <p:cNvSpPr/>
          <p:nvPr/>
        </p:nvSpPr>
        <p:spPr>
          <a:xfrm>
            <a:off x="320040" y="1371600"/>
            <a:ext cx="1600200" cy="1463040"/>
          </a:xfrm>
          <a:prstGeom prst="rect">
            <a:avLst/>
          </a:prstGeom>
          <a:solidFill>
            <a:srgbClr val="E8EEF7"/>
          </a:solidFill>
          <a:ln/>
          <a:effectLst>
            <a:outerShdw blurRad="76200" dist="38100" dir="8100000" algn="bl" rotWithShape="0">
              <a:srgbClr val="000000">
                <a:alpha val="12000"/>
              </a:srgbClr>
            </a:outerShdw>
          </a:effectLst>
        </p:spPr>
        <p:txBody>
          <a:bodyPr/>
          <a:lstStyle/>
          <a:p>
            <a:endParaRPr lang="en-US"/>
          </a:p>
        </p:txBody>
      </p:sp>
      <p:sp>
        <p:nvSpPr>
          <p:cNvPr id="8" name="Text 6"/>
          <p:cNvSpPr/>
          <p:nvPr/>
        </p:nvSpPr>
        <p:spPr>
          <a:xfrm>
            <a:off x="320040" y="1389888"/>
            <a:ext cx="1600200" cy="347472"/>
          </a:xfrm>
          <a:prstGeom prst="rect">
            <a:avLst/>
          </a:prstGeom>
          <a:noFill/>
          <a:ln/>
        </p:spPr>
        <p:txBody>
          <a:bodyPr wrap="square" lIns="0" tIns="0" rIns="0" bIns="0" rtlCol="0" anchor="ctr"/>
          <a:lstStyle/>
          <a:p>
            <a:pPr marL="0" indent="0" algn="ctr">
              <a:buNone/>
            </a:pPr>
            <a:r>
              <a:rPr lang="en-US" sz="1800" b="1" dirty="0">
                <a:solidFill>
                  <a:srgbClr val="002D62"/>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374904" y="1737360"/>
            <a:ext cx="1490472" cy="384048"/>
          </a:xfrm>
          <a:prstGeom prst="rect">
            <a:avLst/>
          </a:prstGeom>
          <a:noFill/>
          <a:ln/>
        </p:spPr>
        <p:txBody>
          <a:bodyPr wrap="square" lIns="0" tIns="0" rIns="0" bIns="0" rtlCol="0" anchor="ctr"/>
          <a:lstStyle/>
          <a:p>
            <a:pPr marL="0" indent="0" algn="ctr">
              <a:buNone/>
            </a:pPr>
            <a:r>
              <a:rPr lang="en-US" sz="1000" b="1" dirty="0">
                <a:solidFill>
                  <a:srgbClr val="002D62"/>
                </a:solidFill>
                <a:latin typeface="Consolas" pitchFamily="34" charset="0"/>
                <a:ea typeface="Consolas" pitchFamily="34" charset="-122"/>
                <a:cs typeface="Consolas" pitchFamily="34" charset="-120"/>
              </a:rPr>
              <a:t>scale()</a:t>
            </a:r>
            <a:endParaRPr lang="en-US" sz="1000" dirty="0"/>
          </a:p>
        </p:txBody>
      </p:sp>
      <p:sp>
        <p:nvSpPr>
          <p:cNvPr id="10" name="Text 8"/>
          <p:cNvSpPr/>
          <p:nvPr/>
        </p:nvSpPr>
        <p:spPr>
          <a:xfrm>
            <a:off x="374904" y="2139696"/>
            <a:ext cx="1490472" cy="621792"/>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Standardize to</a:t>
            </a:r>
            <a:endParaRPr lang="en-US" sz="950" dirty="0"/>
          </a:p>
          <a:p>
            <a:pPr marL="0" indent="0" algn="ctr">
              <a:buNone/>
            </a:pPr>
            <a:r>
              <a:rPr lang="en-US" sz="950" dirty="0">
                <a:solidFill>
                  <a:srgbClr val="64748B"/>
                </a:solidFill>
                <a:latin typeface="Calibri" pitchFamily="34" charset="0"/>
                <a:ea typeface="Calibri" pitchFamily="34" charset="-122"/>
                <a:cs typeface="Calibri" pitchFamily="34" charset="-120"/>
              </a:rPr>
              <a:t>z-scores</a:t>
            </a:r>
            <a:endParaRPr lang="en-US" sz="950" dirty="0"/>
          </a:p>
        </p:txBody>
      </p:sp>
      <p:sp>
        <p:nvSpPr>
          <p:cNvPr id="11" name="Shape 9"/>
          <p:cNvSpPr/>
          <p:nvPr/>
        </p:nvSpPr>
        <p:spPr>
          <a:xfrm>
            <a:off x="1920240" y="2103120"/>
            <a:ext cx="137160" cy="0"/>
          </a:xfrm>
          <a:prstGeom prst="line">
            <a:avLst/>
          </a:prstGeom>
          <a:noFill/>
          <a:ln w="19050">
            <a:solidFill>
              <a:srgbClr val="5A7ABF"/>
            </a:solidFill>
            <a:prstDash val="solid"/>
          </a:ln>
        </p:spPr>
        <p:txBody>
          <a:bodyPr/>
          <a:lstStyle/>
          <a:p>
            <a:endParaRPr lang="en-US"/>
          </a:p>
        </p:txBody>
      </p:sp>
      <p:sp>
        <p:nvSpPr>
          <p:cNvPr id="12" name="Shape 10"/>
          <p:cNvSpPr/>
          <p:nvPr/>
        </p:nvSpPr>
        <p:spPr>
          <a:xfrm>
            <a:off x="2057400" y="1371600"/>
            <a:ext cx="1600200" cy="1463040"/>
          </a:xfrm>
          <a:prstGeom prst="rect">
            <a:avLst/>
          </a:prstGeom>
          <a:solidFill>
            <a:srgbClr val="E8EEF7"/>
          </a:solidFill>
          <a:ln/>
          <a:effectLst>
            <a:outerShdw blurRad="76200" dist="38100" dir="8100000" algn="bl" rotWithShape="0">
              <a:srgbClr val="000000">
                <a:alpha val="12000"/>
              </a:srgbClr>
            </a:outerShdw>
          </a:effectLst>
        </p:spPr>
        <p:txBody>
          <a:bodyPr/>
          <a:lstStyle/>
          <a:p>
            <a:endParaRPr lang="en-US"/>
          </a:p>
        </p:txBody>
      </p:sp>
      <p:sp>
        <p:nvSpPr>
          <p:cNvPr id="13" name="Text 11"/>
          <p:cNvSpPr/>
          <p:nvPr/>
        </p:nvSpPr>
        <p:spPr>
          <a:xfrm>
            <a:off x="2057400" y="1389888"/>
            <a:ext cx="1600200" cy="347472"/>
          </a:xfrm>
          <a:prstGeom prst="rect">
            <a:avLst/>
          </a:prstGeom>
          <a:noFill/>
          <a:ln/>
        </p:spPr>
        <p:txBody>
          <a:bodyPr wrap="square" lIns="0" tIns="0" rIns="0" bIns="0" rtlCol="0" anchor="ctr"/>
          <a:lstStyle/>
          <a:p>
            <a:pPr marL="0" indent="0" algn="ctr">
              <a:buNone/>
            </a:pPr>
            <a:r>
              <a:rPr lang="en-US" sz="1800" b="1" dirty="0">
                <a:solidFill>
                  <a:srgbClr val="002D62"/>
                </a:solidFill>
                <a:latin typeface="Calibri" pitchFamily="34" charset="0"/>
                <a:ea typeface="Calibri" pitchFamily="34" charset="-122"/>
                <a:cs typeface="Calibri" pitchFamily="34" charset="-120"/>
              </a:rPr>
              <a:t>2</a:t>
            </a:r>
            <a:endParaRPr lang="en-US" sz="1800" dirty="0"/>
          </a:p>
        </p:txBody>
      </p:sp>
      <p:sp>
        <p:nvSpPr>
          <p:cNvPr id="14" name="Text 12"/>
          <p:cNvSpPr/>
          <p:nvPr/>
        </p:nvSpPr>
        <p:spPr>
          <a:xfrm>
            <a:off x="2112264" y="1737360"/>
            <a:ext cx="1490472" cy="384048"/>
          </a:xfrm>
          <a:prstGeom prst="rect">
            <a:avLst/>
          </a:prstGeom>
          <a:noFill/>
          <a:ln/>
        </p:spPr>
        <p:txBody>
          <a:bodyPr wrap="square" lIns="0" tIns="0" rIns="0" bIns="0" rtlCol="0" anchor="ctr"/>
          <a:lstStyle/>
          <a:p>
            <a:pPr marL="0" indent="0" algn="ctr">
              <a:buNone/>
            </a:pPr>
            <a:r>
              <a:rPr lang="en-US" sz="1000" b="1" dirty="0">
                <a:solidFill>
                  <a:srgbClr val="002D62"/>
                </a:solidFill>
                <a:latin typeface="Consolas" pitchFamily="34" charset="0"/>
                <a:ea typeface="Consolas" pitchFamily="34" charset="-122"/>
                <a:cs typeface="Consolas" pitchFamily="34" charset="-120"/>
              </a:rPr>
              <a:t>NbClust()</a:t>
            </a:r>
            <a:endParaRPr lang="en-US" sz="1000" dirty="0"/>
          </a:p>
        </p:txBody>
      </p:sp>
      <p:sp>
        <p:nvSpPr>
          <p:cNvPr id="15" name="Text 13"/>
          <p:cNvSpPr/>
          <p:nvPr/>
        </p:nvSpPr>
        <p:spPr>
          <a:xfrm>
            <a:off x="2112264" y="2139696"/>
            <a:ext cx="1490472" cy="621792"/>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Majority vote:</a:t>
            </a:r>
            <a:endParaRPr lang="en-US" sz="950" dirty="0"/>
          </a:p>
          <a:p>
            <a:pPr marL="0" indent="0" algn="ctr">
              <a:buNone/>
            </a:pPr>
            <a:r>
              <a:rPr lang="en-US" sz="950" dirty="0">
                <a:solidFill>
                  <a:srgbClr val="64748B"/>
                </a:solidFill>
                <a:latin typeface="Calibri" pitchFamily="34" charset="0"/>
                <a:ea typeface="Calibri" pitchFamily="34" charset="-122"/>
                <a:cs typeface="Calibri" pitchFamily="34" charset="-120"/>
              </a:rPr>
              <a:t>k = 3</a:t>
            </a:r>
            <a:endParaRPr lang="en-US" sz="950" dirty="0"/>
          </a:p>
        </p:txBody>
      </p:sp>
      <p:sp>
        <p:nvSpPr>
          <p:cNvPr id="16" name="Shape 14"/>
          <p:cNvSpPr/>
          <p:nvPr/>
        </p:nvSpPr>
        <p:spPr>
          <a:xfrm>
            <a:off x="3657600" y="2103120"/>
            <a:ext cx="137160" cy="0"/>
          </a:xfrm>
          <a:prstGeom prst="line">
            <a:avLst/>
          </a:prstGeom>
          <a:noFill/>
          <a:ln w="19050">
            <a:solidFill>
              <a:srgbClr val="5A7ABF"/>
            </a:solidFill>
            <a:prstDash val="solid"/>
          </a:ln>
        </p:spPr>
        <p:txBody>
          <a:bodyPr/>
          <a:lstStyle/>
          <a:p>
            <a:endParaRPr lang="en-US"/>
          </a:p>
        </p:txBody>
      </p:sp>
      <p:sp>
        <p:nvSpPr>
          <p:cNvPr id="17" name="Shape 15"/>
          <p:cNvSpPr/>
          <p:nvPr/>
        </p:nvSpPr>
        <p:spPr>
          <a:xfrm>
            <a:off x="3794760" y="1371600"/>
            <a:ext cx="1600200" cy="1463040"/>
          </a:xfrm>
          <a:prstGeom prst="rect">
            <a:avLst/>
          </a:prstGeom>
          <a:solidFill>
            <a:srgbClr val="002D62"/>
          </a:solidFill>
          <a:ln/>
          <a:effectLst>
            <a:outerShdw blurRad="76200" dist="38100" dir="8100000" algn="bl" rotWithShape="0">
              <a:srgbClr val="000000">
                <a:alpha val="12000"/>
              </a:srgbClr>
            </a:outerShdw>
          </a:effectLst>
        </p:spPr>
        <p:txBody>
          <a:bodyPr/>
          <a:lstStyle/>
          <a:p>
            <a:endParaRPr lang="en-US"/>
          </a:p>
        </p:txBody>
      </p:sp>
      <p:sp>
        <p:nvSpPr>
          <p:cNvPr id="18" name="Text 16"/>
          <p:cNvSpPr/>
          <p:nvPr/>
        </p:nvSpPr>
        <p:spPr>
          <a:xfrm>
            <a:off x="3794760" y="1389888"/>
            <a:ext cx="1600200" cy="347472"/>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Text 17"/>
          <p:cNvSpPr/>
          <p:nvPr/>
        </p:nvSpPr>
        <p:spPr>
          <a:xfrm>
            <a:off x="3849624" y="1737360"/>
            <a:ext cx="1490472" cy="384048"/>
          </a:xfrm>
          <a:prstGeom prst="rect">
            <a:avLst/>
          </a:prstGeom>
          <a:noFill/>
          <a:ln/>
        </p:spPr>
        <p:txBody>
          <a:bodyPr wrap="square" lIns="0" tIns="0" rIns="0" bIns="0" rtlCol="0" anchor="ctr"/>
          <a:lstStyle/>
          <a:p>
            <a:pPr marL="0" indent="0" algn="ctr">
              <a:buNone/>
            </a:pPr>
            <a:r>
              <a:rPr lang="en-US" sz="1000" b="1" dirty="0">
                <a:solidFill>
                  <a:srgbClr val="CADCFC"/>
                </a:solidFill>
                <a:latin typeface="Consolas" pitchFamily="34" charset="0"/>
                <a:ea typeface="Consolas" pitchFamily="34" charset="-122"/>
                <a:cs typeface="Consolas" pitchFamily="34" charset="-120"/>
              </a:rPr>
              <a:t>pam(k=3)</a:t>
            </a:r>
            <a:endParaRPr lang="en-US" sz="1000" dirty="0"/>
          </a:p>
        </p:txBody>
      </p:sp>
      <p:sp>
        <p:nvSpPr>
          <p:cNvPr id="20" name="Text 18"/>
          <p:cNvSpPr/>
          <p:nvPr/>
        </p:nvSpPr>
        <p:spPr>
          <a:xfrm>
            <a:off x="3849624" y="2139696"/>
            <a:ext cx="1490472" cy="621792"/>
          </a:xfrm>
          <a:prstGeom prst="rect">
            <a:avLst/>
          </a:prstGeom>
          <a:noFill/>
          <a:ln/>
        </p:spPr>
        <p:txBody>
          <a:bodyPr wrap="square" lIns="0" tIns="0" rIns="0" bIns="0" rtlCol="0" anchor="ctr"/>
          <a:lstStyle/>
          <a:p>
            <a:pPr marL="0" indent="0" algn="ctr">
              <a:buNone/>
            </a:pPr>
            <a:r>
              <a:rPr lang="en-US" sz="950" dirty="0">
                <a:solidFill>
                  <a:srgbClr val="E8EEF7"/>
                </a:solidFill>
                <a:latin typeface="Calibri" pitchFamily="34" charset="0"/>
                <a:ea typeface="Calibri" pitchFamily="34" charset="-122"/>
                <a:cs typeface="Calibri" pitchFamily="34" charset="-120"/>
              </a:rPr>
              <a:t>PAM clustering</a:t>
            </a:r>
            <a:endParaRPr lang="en-US" sz="950" dirty="0"/>
          </a:p>
          <a:p>
            <a:pPr marL="0" indent="0" algn="ctr">
              <a:buNone/>
            </a:pPr>
            <a:r>
              <a:rPr lang="en-US" sz="950" dirty="0">
                <a:solidFill>
                  <a:srgbClr val="E8EEF7"/>
                </a:solidFill>
                <a:latin typeface="Calibri" pitchFamily="34" charset="0"/>
                <a:ea typeface="Calibri" pitchFamily="34" charset="-122"/>
                <a:cs typeface="Calibri" pitchFamily="34" charset="-120"/>
              </a:rPr>
              <a:t>(robust)</a:t>
            </a:r>
            <a:endParaRPr lang="en-US" sz="950" dirty="0"/>
          </a:p>
        </p:txBody>
      </p:sp>
      <p:sp>
        <p:nvSpPr>
          <p:cNvPr id="21" name="Shape 19"/>
          <p:cNvSpPr/>
          <p:nvPr/>
        </p:nvSpPr>
        <p:spPr>
          <a:xfrm>
            <a:off x="5394960" y="2103120"/>
            <a:ext cx="137160" cy="0"/>
          </a:xfrm>
          <a:prstGeom prst="line">
            <a:avLst/>
          </a:prstGeom>
          <a:noFill/>
          <a:ln w="19050">
            <a:solidFill>
              <a:srgbClr val="5A7ABF"/>
            </a:solidFill>
            <a:prstDash val="solid"/>
          </a:ln>
        </p:spPr>
        <p:txBody>
          <a:bodyPr/>
          <a:lstStyle/>
          <a:p>
            <a:endParaRPr lang="en-US"/>
          </a:p>
        </p:txBody>
      </p:sp>
      <p:sp>
        <p:nvSpPr>
          <p:cNvPr id="22" name="Shape 20"/>
          <p:cNvSpPr/>
          <p:nvPr/>
        </p:nvSpPr>
        <p:spPr>
          <a:xfrm>
            <a:off x="5532120" y="1371600"/>
            <a:ext cx="1600200" cy="1463040"/>
          </a:xfrm>
          <a:prstGeom prst="rect">
            <a:avLst/>
          </a:prstGeom>
          <a:solidFill>
            <a:srgbClr val="E8EEF7"/>
          </a:solidFill>
          <a:ln/>
          <a:effectLst>
            <a:outerShdw blurRad="76200" dist="38100" dir="8100000" algn="bl" rotWithShape="0">
              <a:srgbClr val="000000">
                <a:alpha val="12000"/>
              </a:srgbClr>
            </a:outerShdw>
          </a:effectLst>
        </p:spPr>
        <p:txBody>
          <a:bodyPr/>
          <a:lstStyle/>
          <a:p>
            <a:endParaRPr lang="en-US"/>
          </a:p>
        </p:txBody>
      </p:sp>
      <p:sp>
        <p:nvSpPr>
          <p:cNvPr id="23" name="Text 21"/>
          <p:cNvSpPr/>
          <p:nvPr/>
        </p:nvSpPr>
        <p:spPr>
          <a:xfrm>
            <a:off x="5532120" y="1389888"/>
            <a:ext cx="1600200" cy="347472"/>
          </a:xfrm>
          <a:prstGeom prst="rect">
            <a:avLst/>
          </a:prstGeom>
          <a:noFill/>
          <a:ln/>
        </p:spPr>
        <p:txBody>
          <a:bodyPr wrap="square" lIns="0" tIns="0" rIns="0" bIns="0" rtlCol="0" anchor="ctr"/>
          <a:lstStyle/>
          <a:p>
            <a:pPr marL="0" indent="0" algn="ctr">
              <a:buNone/>
            </a:pPr>
            <a:r>
              <a:rPr lang="en-US" sz="1800" b="1" dirty="0">
                <a:solidFill>
                  <a:srgbClr val="002D62"/>
                </a:solidFill>
                <a:latin typeface="Calibri" pitchFamily="34" charset="0"/>
                <a:ea typeface="Calibri" pitchFamily="34" charset="-122"/>
                <a:cs typeface="Calibri" pitchFamily="34" charset="-120"/>
              </a:rPr>
              <a:t>4</a:t>
            </a:r>
            <a:endParaRPr lang="en-US" sz="1800" dirty="0"/>
          </a:p>
        </p:txBody>
      </p:sp>
      <p:sp>
        <p:nvSpPr>
          <p:cNvPr id="24" name="Text 22"/>
          <p:cNvSpPr/>
          <p:nvPr/>
        </p:nvSpPr>
        <p:spPr>
          <a:xfrm>
            <a:off x="5586984" y="1737360"/>
            <a:ext cx="1490472" cy="384048"/>
          </a:xfrm>
          <a:prstGeom prst="rect">
            <a:avLst/>
          </a:prstGeom>
          <a:noFill/>
          <a:ln/>
        </p:spPr>
        <p:txBody>
          <a:bodyPr wrap="square" lIns="0" tIns="0" rIns="0" bIns="0" rtlCol="0" anchor="ctr"/>
          <a:lstStyle/>
          <a:p>
            <a:pPr marL="0" indent="0" algn="ctr">
              <a:buNone/>
            </a:pPr>
            <a:r>
              <a:rPr lang="en-US" sz="1000" b="1" dirty="0">
                <a:solidFill>
                  <a:srgbClr val="002D62"/>
                </a:solidFill>
                <a:latin typeface="Consolas" pitchFamily="34" charset="0"/>
                <a:ea typeface="Consolas" pitchFamily="34" charset="-122"/>
                <a:cs typeface="Consolas" pitchFamily="34" charset="-120"/>
              </a:rPr>
              <a:t>plot(pam)</a:t>
            </a:r>
            <a:endParaRPr lang="en-US" sz="1000" dirty="0"/>
          </a:p>
        </p:txBody>
      </p:sp>
      <p:sp>
        <p:nvSpPr>
          <p:cNvPr id="25" name="Text 23"/>
          <p:cNvSpPr/>
          <p:nvPr/>
        </p:nvSpPr>
        <p:spPr>
          <a:xfrm>
            <a:off x="5586984" y="2139696"/>
            <a:ext cx="1490472" cy="621792"/>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Silhouette plot</a:t>
            </a:r>
            <a:endParaRPr lang="en-US" sz="950" dirty="0"/>
          </a:p>
          <a:p>
            <a:pPr marL="0" indent="0" algn="ctr">
              <a:buNone/>
            </a:pPr>
            <a:r>
              <a:rPr lang="en-US" sz="950" dirty="0">
                <a:solidFill>
                  <a:srgbClr val="64748B"/>
                </a:solidFill>
                <a:latin typeface="Calibri" pitchFamily="34" charset="0"/>
                <a:ea typeface="Calibri" pitchFamily="34" charset="-122"/>
                <a:cs typeface="Calibri" pitchFamily="34" charset="-120"/>
              </a:rPr>
              <a:t>confirms fit</a:t>
            </a:r>
            <a:endParaRPr lang="en-US" sz="950" dirty="0"/>
          </a:p>
        </p:txBody>
      </p:sp>
      <p:sp>
        <p:nvSpPr>
          <p:cNvPr id="26" name="Shape 24"/>
          <p:cNvSpPr/>
          <p:nvPr/>
        </p:nvSpPr>
        <p:spPr>
          <a:xfrm>
            <a:off x="7132320" y="2103120"/>
            <a:ext cx="137160" cy="0"/>
          </a:xfrm>
          <a:prstGeom prst="line">
            <a:avLst/>
          </a:prstGeom>
          <a:noFill/>
          <a:ln w="19050">
            <a:solidFill>
              <a:srgbClr val="5A7ABF"/>
            </a:solidFill>
            <a:prstDash val="solid"/>
          </a:ln>
        </p:spPr>
        <p:txBody>
          <a:bodyPr/>
          <a:lstStyle/>
          <a:p>
            <a:endParaRPr lang="en-US"/>
          </a:p>
        </p:txBody>
      </p:sp>
      <p:sp>
        <p:nvSpPr>
          <p:cNvPr id="27" name="Shape 25"/>
          <p:cNvSpPr/>
          <p:nvPr/>
        </p:nvSpPr>
        <p:spPr>
          <a:xfrm>
            <a:off x="7269480" y="1371600"/>
            <a:ext cx="1600200" cy="1463040"/>
          </a:xfrm>
          <a:prstGeom prst="rect">
            <a:avLst/>
          </a:prstGeom>
          <a:solidFill>
            <a:srgbClr val="E8EEF7"/>
          </a:solidFill>
          <a:ln/>
          <a:effectLst>
            <a:outerShdw blurRad="76200" dist="38100" dir="8100000" algn="bl" rotWithShape="0">
              <a:srgbClr val="000000">
                <a:alpha val="12000"/>
              </a:srgbClr>
            </a:outerShdw>
          </a:effectLst>
        </p:spPr>
        <p:txBody>
          <a:bodyPr/>
          <a:lstStyle/>
          <a:p>
            <a:endParaRPr lang="en-US"/>
          </a:p>
        </p:txBody>
      </p:sp>
      <p:sp>
        <p:nvSpPr>
          <p:cNvPr id="28" name="Text 26"/>
          <p:cNvSpPr/>
          <p:nvPr/>
        </p:nvSpPr>
        <p:spPr>
          <a:xfrm>
            <a:off x="7269480" y="1389888"/>
            <a:ext cx="1600200" cy="347472"/>
          </a:xfrm>
          <a:prstGeom prst="rect">
            <a:avLst/>
          </a:prstGeom>
          <a:noFill/>
          <a:ln/>
        </p:spPr>
        <p:txBody>
          <a:bodyPr wrap="square" lIns="0" tIns="0" rIns="0" bIns="0" rtlCol="0" anchor="ctr"/>
          <a:lstStyle/>
          <a:p>
            <a:pPr marL="0" indent="0" algn="ctr">
              <a:buNone/>
            </a:pPr>
            <a:r>
              <a:rPr lang="en-US" sz="1800" b="1" dirty="0">
                <a:solidFill>
                  <a:srgbClr val="002D62"/>
                </a:solidFill>
                <a:latin typeface="Calibri" pitchFamily="34" charset="0"/>
                <a:ea typeface="Calibri" pitchFamily="34" charset="-122"/>
                <a:cs typeface="Calibri" pitchFamily="34" charset="-120"/>
              </a:rPr>
              <a:t>5</a:t>
            </a:r>
            <a:endParaRPr lang="en-US" sz="1800" dirty="0"/>
          </a:p>
        </p:txBody>
      </p:sp>
      <p:sp>
        <p:nvSpPr>
          <p:cNvPr id="29" name="Text 27"/>
          <p:cNvSpPr/>
          <p:nvPr/>
        </p:nvSpPr>
        <p:spPr>
          <a:xfrm>
            <a:off x="7324344" y="1737360"/>
            <a:ext cx="1490472" cy="384048"/>
          </a:xfrm>
          <a:prstGeom prst="rect">
            <a:avLst/>
          </a:prstGeom>
          <a:noFill/>
          <a:ln/>
        </p:spPr>
        <p:txBody>
          <a:bodyPr wrap="square" lIns="0" tIns="0" rIns="0" bIns="0" rtlCol="0" anchor="ctr"/>
          <a:lstStyle/>
          <a:p>
            <a:pPr marL="0" indent="0" algn="ctr">
              <a:buNone/>
            </a:pPr>
            <a:r>
              <a:rPr lang="en-US" sz="1000" b="1" dirty="0">
                <a:solidFill>
                  <a:srgbClr val="002D62"/>
                </a:solidFill>
                <a:latin typeface="Consolas" pitchFamily="34" charset="0"/>
                <a:ea typeface="Consolas" pitchFamily="34" charset="-122"/>
                <a:cs typeface="Consolas" pitchFamily="34" charset="-120"/>
              </a:rPr>
              <a:t>summarise</a:t>
            </a:r>
            <a:endParaRPr lang="en-US" sz="1000" dirty="0"/>
          </a:p>
          <a:p>
            <a:pPr marL="0" indent="0" algn="ctr">
              <a:buNone/>
            </a:pPr>
            <a:r>
              <a:rPr lang="en-US" sz="1000" b="1" dirty="0">
                <a:solidFill>
                  <a:srgbClr val="002D62"/>
                </a:solidFill>
                <a:latin typeface="Consolas" pitchFamily="34" charset="0"/>
                <a:ea typeface="Consolas" pitchFamily="34" charset="-122"/>
                <a:cs typeface="Consolas" pitchFamily="34" charset="-120"/>
              </a:rPr>
              <a:t>(across)</a:t>
            </a:r>
            <a:endParaRPr lang="en-US" sz="1000" dirty="0"/>
          </a:p>
        </p:txBody>
      </p:sp>
      <p:sp>
        <p:nvSpPr>
          <p:cNvPr id="30" name="Text 28"/>
          <p:cNvSpPr/>
          <p:nvPr/>
        </p:nvSpPr>
        <p:spPr>
          <a:xfrm>
            <a:off x="7324344" y="2139696"/>
            <a:ext cx="1490472" cy="621792"/>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Mean per</a:t>
            </a:r>
            <a:endParaRPr lang="en-US" sz="950" dirty="0"/>
          </a:p>
          <a:p>
            <a:pPr marL="0" indent="0" algn="ctr">
              <a:buNone/>
            </a:pPr>
            <a:r>
              <a:rPr lang="en-US" sz="950" dirty="0">
                <a:solidFill>
                  <a:srgbClr val="64748B"/>
                </a:solidFill>
                <a:latin typeface="Calibri" pitchFamily="34" charset="0"/>
                <a:ea typeface="Calibri" pitchFamily="34" charset="-122"/>
                <a:cs typeface="Calibri" pitchFamily="34" charset="-120"/>
              </a:rPr>
              <a:t>cluster</a:t>
            </a:r>
            <a:endParaRPr lang="en-US" sz="950" dirty="0"/>
          </a:p>
        </p:txBody>
      </p:sp>
      <p:sp>
        <p:nvSpPr>
          <p:cNvPr id="31" name="Text 29"/>
          <p:cNvSpPr/>
          <p:nvPr/>
        </p:nvSpPr>
        <p:spPr>
          <a:xfrm>
            <a:off x="320040" y="2999232"/>
            <a:ext cx="8503920" cy="256032"/>
          </a:xfrm>
          <a:prstGeom prst="rect">
            <a:avLst/>
          </a:prstGeom>
          <a:noFill/>
          <a:ln/>
        </p:spPr>
        <p:txBody>
          <a:bodyPr wrap="square" lIns="0" tIns="0" rIns="0" bIns="0" rtlCol="0" anchor="ctr"/>
          <a:lstStyle/>
          <a:p>
            <a:pPr marL="0" indent="0">
              <a:buNone/>
            </a:pPr>
            <a:r>
              <a:rPr lang="en-US" sz="1100" b="1" dirty="0">
                <a:solidFill>
                  <a:srgbClr val="002D62"/>
                </a:solidFill>
                <a:latin typeface="Calibri" pitchFamily="34" charset="0"/>
                <a:ea typeface="Calibri" pitchFamily="34" charset="-122"/>
                <a:cs typeface="Calibri" pitchFamily="34" charset="-120"/>
              </a:rPr>
              <a:t>Cluster Profiles — Mean Predictor Values (target excluded from clustering)</a:t>
            </a:r>
            <a:endParaRPr lang="en-US" sz="1100" dirty="0"/>
          </a:p>
        </p:txBody>
      </p:sp>
      <p:graphicFrame>
        <p:nvGraphicFramePr>
          <p:cNvPr id="32" name="Chart 0"/>
          <p:cNvGraphicFramePr/>
          <p:nvPr/>
        </p:nvGraphicFramePr>
        <p:xfrm>
          <a:off x="320040" y="3246120"/>
          <a:ext cx="8503920" cy="169164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02D62"/>
          </a:solidFill>
          <a:ln/>
        </p:spPr>
        <p:txBody>
          <a:bodyPr/>
          <a:lstStyle/>
          <a:p>
            <a:endParaRPr lang="en-US"/>
          </a:p>
        </p:txBody>
      </p:sp>
      <p:sp>
        <p:nvSpPr>
          <p:cNvPr id="3" name="Text 1"/>
          <p:cNvSpPr/>
          <p:nvPr/>
        </p:nvSpPr>
        <p:spPr>
          <a:xfrm>
            <a:off x="320040" y="45720"/>
            <a:ext cx="850392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Spatial Analysis — Moran's I &amp; LISA Clusters</a:t>
            </a:r>
            <a:endParaRPr lang="en-US" sz="2000" dirty="0"/>
          </a:p>
        </p:txBody>
      </p:sp>
      <p:sp>
        <p:nvSpPr>
          <p:cNvPr id="4" name="Shape 2"/>
          <p:cNvSpPr/>
          <p:nvPr/>
        </p:nvSpPr>
        <p:spPr>
          <a:xfrm>
            <a:off x="0" y="594360"/>
            <a:ext cx="64008" cy="4549140"/>
          </a:xfrm>
          <a:prstGeom prst="rect">
            <a:avLst/>
          </a:prstGeom>
          <a:solidFill>
            <a:srgbClr val="DAAA00"/>
          </a:solidFill>
          <a:ln/>
        </p:spPr>
        <p:txBody>
          <a:bodyPr/>
          <a:lstStyle/>
          <a:p>
            <a:endParaRPr lang="en-US"/>
          </a:p>
        </p:txBody>
      </p:sp>
      <p:sp>
        <p:nvSpPr>
          <p:cNvPr id="5" name="Shape 3"/>
          <p:cNvSpPr/>
          <p:nvPr/>
        </p:nvSpPr>
        <p:spPr>
          <a:xfrm>
            <a:off x="320040" y="749808"/>
            <a:ext cx="4114800" cy="4023360"/>
          </a:xfrm>
          <a:prstGeom prst="rect">
            <a:avLst/>
          </a:prstGeom>
          <a:solidFill>
            <a:srgbClr val="E8EEF7"/>
          </a:solidFill>
          <a:ln/>
          <a:effectLst>
            <a:outerShdw blurRad="76200" dist="38100" dir="8100000" algn="bl" rotWithShape="0">
              <a:srgbClr val="000000">
                <a:alpha val="12000"/>
              </a:srgbClr>
            </a:outerShdw>
          </a:effectLst>
        </p:spPr>
        <p:txBody>
          <a:bodyPr/>
          <a:lstStyle/>
          <a:p>
            <a:endParaRPr lang="en-US"/>
          </a:p>
        </p:txBody>
      </p:sp>
      <p:sp>
        <p:nvSpPr>
          <p:cNvPr id="6" name="Text 4"/>
          <p:cNvSpPr/>
          <p:nvPr/>
        </p:nvSpPr>
        <p:spPr>
          <a:xfrm>
            <a:off x="502920" y="822960"/>
            <a:ext cx="3749040" cy="320040"/>
          </a:xfrm>
          <a:prstGeom prst="rect">
            <a:avLst/>
          </a:prstGeom>
          <a:noFill/>
          <a:ln/>
        </p:spPr>
        <p:txBody>
          <a:bodyPr wrap="square" lIns="0" tIns="0" rIns="0" bIns="0" rtlCol="0" anchor="ctr"/>
          <a:lstStyle/>
          <a:p>
            <a:pPr marL="0" indent="0">
              <a:buNone/>
            </a:pPr>
            <a:r>
              <a:rPr lang="en-US" sz="1300" b="1" dirty="0">
                <a:solidFill>
                  <a:srgbClr val="002D62"/>
                </a:solidFill>
                <a:latin typeface="Calibri" pitchFamily="34" charset="0"/>
                <a:ea typeface="Calibri" pitchFamily="34" charset="-122"/>
                <a:cs typeface="Calibri" pitchFamily="34" charset="-120"/>
              </a:rPr>
              <a:t>Global Moran's I</a:t>
            </a:r>
            <a:endParaRPr lang="en-US" sz="1300" dirty="0"/>
          </a:p>
        </p:txBody>
      </p:sp>
      <p:sp>
        <p:nvSpPr>
          <p:cNvPr id="7" name="Text 5"/>
          <p:cNvSpPr/>
          <p:nvPr/>
        </p:nvSpPr>
        <p:spPr>
          <a:xfrm>
            <a:off x="502920" y="1234440"/>
            <a:ext cx="3749040" cy="1828800"/>
          </a:xfrm>
          <a:prstGeom prst="rect">
            <a:avLst/>
          </a:prstGeom>
          <a:noFill/>
          <a:ln/>
        </p:spPr>
        <p:txBody>
          <a:bodyPr wrap="square" rtlCol="0" anchor="ctr"/>
          <a:lstStyle/>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Measures degree of spatial autocorrelation</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I &gt; 0 → similar values cluster in space</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p &lt; 0.05 → clustering is NOT random chance</a:t>
            </a:r>
            <a:endParaRPr lang="en-US" sz="1100" dirty="0"/>
          </a:p>
          <a:p>
            <a:pPr marL="0" indent="0">
              <a:buNone/>
            </a:pPr>
            <a:r>
              <a:rPr lang="en-US" sz="1100" b="1" dirty="0">
                <a:solidFill>
                  <a:srgbClr val="D62728"/>
                </a:solidFill>
                <a:latin typeface="Calibri" pitchFamily="34" charset="0"/>
                <a:ea typeface="Calibri" pitchFamily="34" charset="-122"/>
                <a:cs typeface="Calibri" pitchFamily="34" charset="-120"/>
              </a:rPr>
              <a:t>Result: I = 0.42, p &lt; 0.001</a:t>
            </a:r>
            <a:endParaRPr lang="en-US" sz="1100" dirty="0"/>
          </a:p>
          <a:p>
            <a:pPr marL="0" indent="0">
              <a:buNone/>
            </a:pPr>
            <a:r>
              <a:rPr lang="en-US" sz="1100" b="1" dirty="0">
                <a:solidFill>
                  <a:srgbClr val="002D62"/>
                </a:solidFill>
                <a:latin typeface="Calibri" pitchFamily="34" charset="0"/>
                <a:ea typeface="Calibri" pitchFamily="34" charset="-122"/>
                <a:cs typeface="Calibri" pitchFamily="34" charset="-120"/>
              </a:rPr>
              <a:t>→ Deaths cluster geographically!</a:t>
            </a:r>
            <a:endParaRPr lang="en-US" sz="1100" dirty="0"/>
          </a:p>
        </p:txBody>
      </p:sp>
      <p:sp>
        <p:nvSpPr>
          <p:cNvPr id="8" name="Text 6"/>
          <p:cNvSpPr/>
          <p:nvPr/>
        </p:nvSpPr>
        <p:spPr>
          <a:xfrm>
            <a:off x="502920" y="3127248"/>
            <a:ext cx="3749040" cy="292608"/>
          </a:xfrm>
          <a:prstGeom prst="rect">
            <a:avLst/>
          </a:prstGeom>
          <a:noFill/>
          <a:ln/>
        </p:spPr>
        <p:txBody>
          <a:bodyPr wrap="square" lIns="0" tIns="0" rIns="0" bIns="0" rtlCol="0" anchor="ctr"/>
          <a:lstStyle/>
          <a:p>
            <a:pPr marL="0" indent="0">
              <a:buNone/>
            </a:pPr>
            <a:r>
              <a:rPr lang="en-US" sz="1200" b="1" dirty="0">
                <a:solidFill>
                  <a:srgbClr val="002D62"/>
                </a:solidFill>
                <a:latin typeface="Calibri" pitchFamily="34" charset="0"/>
                <a:ea typeface="Calibri" pitchFamily="34" charset="-122"/>
                <a:cs typeface="Calibri" pitchFamily="34" charset="-120"/>
              </a:rPr>
              <a:t>LISA Cluster Types</a:t>
            </a:r>
            <a:endParaRPr lang="en-US" sz="1200" dirty="0"/>
          </a:p>
        </p:txBody>
      </p:sp>
      <p:sp>
        <p:nvSpPr>
          <p:cNvPr id="9" name="Shape 7"/>
          <p:cNvSpPr/>
          <p:nvPr/>
        </p:nvSpPr>
        <p:spPr>
          <a:xfrm>
            <a:off x="502920" y="3493008"/>
            <a:ext cx="914400" cy="237744"/>
          </a:xfrm>
          <a:prstGeom prst="rect">
            <a:avLst/>
          </a:prstGeom>
          <a:solidFill>
            <a:srgbClr val="D62728"/>
          </a:solidFill>
          <a:ln/>
        </p:spPr>
        <p:txBody>
          <a:bodyPr/>
          <a:lstStyle/>
          <a:p>
            <a:endParaRPr lang="en-US"/>
          </a:p>
        </p:txBody>
      </p:sp>
      <p:sp>
        <p:nvSpPr>
          <p:cNvPr id="10" name="Text 8"/>
          <p:cNvSpPr/>
          <p:nvPr/>
        </p:nvSpPr>
        <p:spPr>
          <a:xfrm>
            <a:off x="502920" y="3493008"/>
            <a:ext cx="914400"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High-High</a:t>
            </a:r>
            <a:endParaRPr lang="en-US" sz="800" dirty="0"/>
          </a:p>
        </p:txBody>
      </p:sp>
      <p:sp>
        <p:nvSpPr>
          <p:cNvPr id="11" name="Text 9"/>
          <p:cNvSpPr/>
          <p:nvPr/>
        </p:nvSpPr>
        <p:spPr>
          <a:xfrm>
            <a:off x="1508760" y="3511296"/>
            <a:ext cx="2834640" cy="2011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Hotspot — high deaths, high neighbors</a:t>
            </a:r>
            <a:endParaRPr lang="en-US" sz="900" dirty="0"/>
          </a:p>
        </p:txBody>
      </p:sp>
      <p:sp>
        <p:nvSpPr>
          <p:cNvPr id="12" name="Shape 10"/>
          <p:cNvSpPr/>
          <p:nvPr/>
        </p:nvSpPr>
        <p:spPr>
          <a:xfrm>
            <a:off x="502920" y="3803904"/>
            <a:ext cx="914400" cy="237744"/>
          </a:xfrm>
          <a:prstGeom prst="rect">
            <a:avLst/>
          </a:prstGeom>
          <a:solidFill>
            <a:srgbClr val="002D62"/>
          </a:solidFill>
          <a:ln/>
        </p:spPr>
        <p:txBody>
          <a:bodyPr/>
          <a:lstStyle/>
          <a:p>
            <a:endParaRPr lang="en-US"/>
          </a:p>
        </p:txBody>
      </p:sp>
      <p:sp>
        <p:nvSpPr>
          <p:cNvPr id="13" name="Text 11"/>
          <p:cNvSpPr/>
          <p:nvPr/>
        </p:nvSpPr>
        <p:spPr>
          <a:xfrm>
            <a:off x="502920" y="3803904"/>
            <a:ext cx="914400"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Low-Low</a:t>
            </a:r>
            <a:endParaRPr lang="en-US" sz="800" dirty="0"/>
          </a:p>
        </p:txBody>
      </p:sp>
      <p:sp>
        <p:nvSpPr>
          <p:cNvPr id="14" name="Text 12"/>
          <p:cNvSpPr/>
          <p:nvPr/>
        </p:nvSpPr>
        <p:spPr>
          <a:xfrm>
            <a:off x="1508760" y="3822192"/>
            <a:ext cx="2834640" cy="2011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Coldspot — low deaths, low neighbors</a:t>
            </a:r>
            <a:endParaRPr lang="en-US" sz="900" dirty="0"/>
          </a:p>
        </p:txBody>
      </p:sp>
      <p:sp>
        <p:nvSpPr>
          <p:cNvPr id="15" name="Shape 13"/>
          <p:cNvSpPr/>
          <p:nvPr/>
        </p:nvSpPr>
        <p:spPr>
          <a:xfrm>
            <a:off x="502920" y="4114800"/>
            <a:ext cx="914400" cy="237744"/>
          </a:xfrm>
          <a:prstGeom prst="rect">
            <a:avLst/>
          </a:prstGeom>
          <a:solidFill>
            <a:srgbClr val="EA580C"/>
          </a:solidFill>
          <a:ln/>
        </p:spPr>
        <p:txBody>
          <a:bodyPr/>
          <a:lstStyle/>
          <a:p>
            <a:endParaRPr lang="en-US"/>
          </a:p>
        </p:txBody>
      </p:sp>
      <p:sp>
        <p:nvSpPr>
          <p:cNvPr id="16" name="Text 14"/>
          <p:cNvSpPr/>
          <p:nvPr/>
        </p:nvSpPr>
        <p:spPr>
          <a:xfrm>
            <a:off x="502920" y="4114800"/>
            <a:ext cx="914400"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High-Low</a:t>
            </a:r>
            <a:endParaRPr lang="en-US" sz="800" dirty="0"/>
          </a:p>
        </p:txBody>
      </p:sp>
      <p:sp>
        <p:nvSpPr>
          <p:cNvPr id="17" name="Text 15"/>
          <p:cNvSpPr/>
          <p:nvPr/>
        </p:nvSpPr>
        <p:spPr>
          <a:xfrm>
            <a:off x="1508760" y="4133088"/>
            <a:ext cx="2834640" cy="2011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Outlier — high state, low neighbors</a:t>
            </a:r>
            <a:endParaRPr lang="en-US" sz="900" dirty="0"/>
          </a:p>
        </p:txBody>
      </p:sp>
      <p:sp>
        <p:nvSpPr>
          <p:cNvPr id="18" name="Shape 16"/>
          <p:cNvSpPr/>
          <p:nvPr/>
        </p:nvSpPr>
        <p:spPr>
          <a:xfrm>
            <a:off x="502920" y="4425696"/>
            <a:ext cx="914400" cy="237744"/>
          </a:xfrm>
          <a:prstGeom prst="rect">
            <a:avLst/>
          </a:prstGeom>
          <a:solidFill>
            <a:srgbClr val="5A7ABF"/>
          </a:solidFill>
          <a:ln/>
        </p:spPr>
        <p:txBody>
          <a:bodyPr/>
          <a:lstStyle/>
          <a:p>
            <a:endParaRPr lang="en-US"/>
          </a:p>
        </p:txBody>
      </p:sp>
      <p:sp>
        <p:nvSpPr>
          <p:cNvPr id="19" name="Text 17"/>
          <p:cNvSpPr/>
          <p:nvPr/>
        </p:nvSpPr>
        <p:spPr>
          <a:xfrm>
            <a:off x="502920" y="4425696"/>
            <a:ext cx="914400"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Low-High</a:t>
            </a:r>
            <a:endParaRPr lang="en-US" sz="800" dirty="0"/>
          </a:p>
        </p:txBody>
      </p:sp>
      <p:sp>
        <p:nvSpPr>
          <p:cNvPr id="20" name="Text 18"/>
          <p:cNvSpPr/>
          <p:nvPr/>
        </p:nvSpPr>
        <p:spPr>
          <a:xfrm>
            <a:off x="1508760" y="4443984"/>
            <a:ext cx="2834640" cy="2011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Outlier — low state, high neighbors</a:t>
            </a:r>
            <a:endParaRPr lang="en-US" sz="900" dirty="0"/>
          </a:p>
        </p:txBody>
      </p:sp>
      <p:sp>
        <p:nvSpPr>
          <p:cNvPr id="21" name="Shape 19"/>
          <p:cNvSpPr/>
          <p:nvPr/>
        </p:nvSpPr>
        <p:spPr>
          <a:xfrm>
            <a:off x="4663440" y="749808"/>
            <a:ext cx="4160520" cy="4023360"/>
          </a:xfrm>
          <a:prstGeom prst="rect">
            <a:avLst/>
          </a:prstGeom>
          <a:solidFill>
            <a:srgbClr val="E8EEF7"/>
          </a:solidFill>
          <a:ln w="6350">
            <a:solidFill>
              <a:srgbClr val="5A7ABF"/>
            </a:solidFill>
            <a:prstDash val="solid"/>
          </a:ln>
        </p:spPr>
        <p:txBody>
          <a:bodyPr/>
          <a:lstStyle/>
          <a:p>
            <a:endParaRPr lang="en-US"/>
          </a:p>
        </p:txBody>
      </p:sp>
      <p:sp>
        <p:nvSpPr>
          <p:cNvPr id="22" name="Text 20"/>
          <p:cNvSpPr/>
          <p:nvPr/>
        </p:nvSpPr>
        <p:spPr>
          <a:xfrm>
            <a:off x="4846320" y="914400"/>
            <a:ext cx="3749040" cy="320040"/>
          </a:xfrm>
          <a:prstGeom prst="rect">
            <a:avLst/>
          </a:prstGeom>
          <a:noFill/>
          <a:ln/>
        </p:spPr>
        <p:txBody>
          <a:bodyPr wrap="square" lIns="0" tIns="0" rIns="0" bIns="0" rtlCol="0" anchor="ctr"/>
          <a:lstStyle/>
          <a:p>
            <a:pPr marL="0" indent="0" algn="ctr">
              <a:buNone/>
            </a:pPr>
            <a:r>
              <a:rPr lang="en-US" sz="1200" b="1" dirty="0">
                <a:solidFill>
                  <a:srgbClr val="002D62"/>
                </a:solidFill>
                <a:latin typeface="Calibri" pitchFamily="34" charset="0"/>
                <a:ea typeface="Calibri" pitchFamily="34" charset="-122"/>
                <a:cs typeface="Calibri" pitchFamily="34" charset="-120"/>
              </a:rPr>
              <a:t>LISA Cluster Map</a:t>
            </a:r>
            <a:endParaRPr lang="en-US" sz="1200" dirty="0"/>
          </a:p>
        </p:txBody>
      </p:sp>
      <p:sp>
        <p:nvSpPr>
          <p:cNvPr id="23" name="Text 21"/>
          <p:cNvSpPr/>
          <p:nvPr/>
        </p:nvSpPr>
        <p:spPr>
          <a:xfrm>
            <a:off x="4846320" y="1645920"/>
            <a:ext cx="3749040" cy="109728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 Paste Figure 18 — LISA map</a:t>
            </a:r>
            <a:endParaRPr lang="en-US" sz="1100" dirty="0"/>
          </a:p>
          <a:p>
            <a:pPr marL="0" indent="0" algn="ctr">
              <a:buNone/>
            </a:pPr>
            <a:r>
              <a:rPr lang="en-US" sz="1100" i="1" dirty="0">
                <a:solidFill>
                  <a:srgbClr val="64748B"/>
                </a:solidFill>
                <a:latin typeface="Calibri" pitchFamily="34" charset="0"/>
                <a:ea typeface="Calibri" pitchFamily="34" charset="-122"/>
                <a:cs typeface="Calibri" pitchFamily="34" charset="-120"/>
              </a:rPr>
              <a:t>  screenshot from rendered QMD ]</a:t>
            </a:r>
            <a:endParaRPr lang="en-US" sz="1100" dirty="0"/>
          </a:p>
        </p:txBody>
      </p:sp>
      <p:sp>
        <p:nvSpPr>
          <p:cNvPr id="24" name="Shape 22"/>
          <p:cNvSpPr/>
          <p:nvPr/>
        </p:nvSpPr>
        <p:spPr>
          <a:xfrm>
            <a:off x="4663440" y="3063240"/>
            <a:ext cx="4160520" cy="1709928"/>
          </a:xfrm>
          <a:prstGeom prst="rect">
            <a:avLst/>
          </a:prstGeom>
          <a:solidFill>
            <a:srgbClr val="FEF2F2"/>
          </a:solidFill>
          <a:ln w="6350">
            <a:solidFill>
              <a:srgbClr val="D62728"/>
            </a:solidFill>
            <a:prstDash val="solid"/>
          </a:ln>
        </p:spPr>
        <p:txBody>
          <a:bodyPr/>
          <a:lstStyle/>
          <a:p>
            <a:endParaRPr lang="en-US"/>
          </a:p>
        </p:txBody>
      </p:sp>
      <p:sp>
        <p:nvSpPr>
          <p:cNvPr id="25" name="Text 23"/>
          <p:cNvSpPr/>
          <p:nvPr/>
        </p:nvSpPr>
        <p:spPr>
          <a:xfrm>
            <a:off x="4846320" y="3154680"/>
            <a:ext cx="3749040" cy="1463040"/>
          </a:xfrm>
          <a:prstGeom prst="rect">
            <a:avLst/>
          </a:prstGeom>
          <a:noFill/>
          <a:ln/>
        </p:spPr>
        <p:txBody>
          <a:bodyPr wrap="square" rtlCol="0" anchor="ctr"/>
          <a:lstStyle/>
          <a:p>
            <a:pPr marL="0" indent="0">
              <a:buNone/>
            </a:pPr>
            <a:r>
              <a:rPr lang="en-US" sz="1100" b="1" dirty="0">
                <a:solidFill>
                  <a:srgbClr val="D62728"/>
                </a:solidFill>
                <a:latin typeface="Calibri" pitchFamily="34" charset="0"/>
                <a:ea typeface="Calibri" pitchFamily="34" charset="-122"/>
                <a:cs typeface="Calibri" pitchFamily="34" charset="-120"/>
              </a:rPr>
              <a:t>High-High Hotspots:
</a:t>
            </a:r>
            <a:r>
              <a:rPr lang="en-US" sz="1050" dirty="0">
                <a:solidFill>
                  <a:srgbClr val="334155"/>
                </a:solidFill>
                <a:latin typeface="Calibri" pitchFamily="34" charset="0"/>
                <a:ea typeface="Calibri" pitchFamily="34" charset="-122"/>
                <a:cs typeface="Calibri" pitchFamily="34" charset="-120"/>
              </a:rPr>
              <a:t>West Virginia, Kentucky, Ohio,
Tennessee, Pennsylvania
</a:t>
            </a:r>
            <a:r>
              <a:rPr lang="en-US" sz="1050" i="1" dirty="0">
                <a:solidFill>
                  <a:srgbClr val="334155"/>
                </a:solidFill>
                <a:latin typeface="Calibri" pitchFamily="34" charset="0"/>
                <a:ea typeface="Calibri" pitchFamily="34" charset="-122"/>
                <a:cs typeface="Calibri" pitchFamily="34" charset="-120"/>
              </a:rPr>
              <a:t>(Appalachian corridor)</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02D62"/>
          </a:solidFill>
          <a:ln/>
        </p:spPr>
        <p:txBody>
          <a:bodyPr/>
          <a:lstStyle/>
          <a:p>
            <a:endParaRPr lang="en-US"/>
          </a:p>
        </p:txBody>
      </p:sp>
      <p:sp>
        <p:nvSpPr>
          <p:cNvPr id="3" name="Text 1"/>
          <p:cNvSpPr/>
          <p:nvPr/>
        </p:nvSpPr>
        <p:spPr>
          <a:xfrm>
            <a:off x="320040" y="45720"/>
            <a:ext cx="850392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Results Summary</a:t>
            </a:r>
            <a:endParaRPr lang="en-US" sz="2000" dirty="0"/>
          </a:p>
        </p:txBody>
      </p:sp>
      <p:sp>
        <p:nvSpPr>
          <p:cNvPr id="4" name="Shape 2"/>
          <p:cNvSpPr/>
          <p:nvPr/>
        </p:nvSpPr>
        <p:spPr>
          <a:xfrm>
            <a:off x="0" y="594360"/>
            <a:ext cx="64008" cy="4549140"/>
          </a:xfrm>
          <a:prstGeom prst="rect">
            <a:avLst/>
          </a:prstGeom>
          <a:solidFill>
            <a:srgbClr val="DAAA00"/>
          </a:solidFill>
          <a:ln/>
        </p:spPr>
        <p:txBody>
          <a:bodyPr/>
          <a:lstStyle/>
          <a:p>
            <a:endParaRPr lang="en-US"/>
          </a:p>
        </p:txBody>
      </p:sp>
      <p:sp>
        <p:nvSpPr>
          <p:cNvPr id="5" name="Shape 3"/>
          <p:cNvSpPr/>
          <p:nvPr/>
        </p:nvSpPr>
        <p:spPr>
          <a:xfrm>
            <a:off x="320040" y="749808"/>
            <a:ext cx="2743200" cy="1920240"/>
          </a:xfrm>
          <a:prstGeom prst="rect">
            <a:avLst/>
          </a:prstGeom>
          <a:solidFill>
            <a:srgbClr val="D62728"/>
          </a:solidFill>
          <a:ln/>
          <a:effectLst>
            <a:outerShdw blurRad="76200" dist="38100" dir="8100000" algn="bl" rotWithShape="0">
              <a:srgbClr val="000000">
                <a:alpha val="12000"/>
              </a:srgbClr>
            </a:outerShdw>
          </a:effectLst>
        </p:spPr>
        <p:txBody>
          <a:bodyPr/>
          <a:lstStyle/>
          <a:p>
            <a:endParaRPr lang="en-US"/>
          </a:p>
        </p:txBody>
      </p:sp>
      <p:sp>
        <p:nvSpPr>
          <p:cNvPr id="6" name="Text 4"/>
          <p:cNvSpPr/>
          <p:nvPr/>
        </p:nvSpPr>
        <p:spPr>
          <a:xfrm>
            <a:off x="457200" y="859536"/>
            <a:ext cx="246888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01  Temporal Escalation</a:t>
            </a:r>
            <a:endParaRPr lang="en-US" sz="1200" dirty="0"/>
          </a:p>
        </p:txBody>
      </p:sp>
      <p:sp>
        <p:nvSpPr>
          <p:cNvPr id="7" name="Text 5"/>
          <p:cNvSpPr/>
          <p:nvPr/>
        </p:nvSpPr>
        <p:spPr>
          <a:xfrm>
            <a:off x="457200" y="1234440"/>
            <a:ext cx="2468880" cy="1325880"/>
          </a:xfrm>
          <a:prstGeom prst="rect">
            <a:avLst/>
          </a:prstGeom>
          <a:noFill/>
          <a:ln/>
        </p:spPr>
        <p:txBody>
          <a:bodyPr wrap="square" lIns="0" tIns="0" rIns="0" bIns="0" rtlCol="0" anchor="ctr"/>
          <a:lstStyle/>
          <a:p>
            <a:pPr marL="0" indent="0">
              <a:buNone/>
            </a:pPr>
            <a:r>
              <a:rPr lang="en-US" sz="1000" dirty="0">
                <a:solidFill>
                  <a:srgbClr val="E8EEF7"/>
                </a:solidFill>
                <a:latin typeface="Calibri" pitchFamily="34" charset="0"/>
                <a:ea typeface="Calibri" pitchFamily="34" charset="-122"/>
                <a:cs typeface="Calibri" pitchFamily="34" charset="-120"/>
              </a:rPr>
              <a:t>Deaths rose every year 2015–2022. Synthetic opioids (fentanyl) surpassed heroin after 2018 and continue to rise.</a:t>
            </a:r>
            <a:endParaRPr lang="en-US" sz="1000" dirty="0"/>
          </a:p>
        </p:txBody>
      </p:sp>
      <p:sp>
        <p:nvSpPr>
          <p:cNvPr id="8" name="Shape 6"/>
          <p:cNvSpPr/>
          <p:nvPr/>
        </p:nvSpPr>
        <p:spPr>
          <a:xfrm>
            <a:off x="3264408" y="749808"/>
            <a:ext cx="2743200" cy="1920240"/>
          </a:xfrm>
          <a:prstGeom prst="rect">
            <a:avLst/>
          </a:prstGeom>
          <a:solidFill>
            <a:srgbClr val="002D62"/>
          </a:solidFill>
          <a:ln/>
          <a:effectLst>
            <a:outerShdw blurRad="76200" dist="38100" dir="8100000" algn="bl" rotWithShape="0">
              <a:srgbClr val="000000">
                <a:alpha val="12000"/>
              </a:srgbClr>
            </a:outerShdw>
          </a:effectLst>
        </p:spPr>
        <p:txBody>
          <a:bodyPr/>
          <a:lstStyle/>
          <a:p>
            <a:endParaRPr lang="en-US"/>
          </a:p>
        </p:txBody>
      </p:sp>
      <p:sp>
        <p:nvSpPr>
          <p:cNvPr id="9" name="Text 7"/>
          <p:cNvSpPr/>
          <p:nvPr/>
        </p:nvSpPr>
        <p:spPr>
          <a:xfrm>
            <a:off x="3401568" y="859536"/>
            <a:ext cx="246888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02  Regional Patterns</a:t>
            </a:r>
            <a:endParaRPr lang="en-US" sz="1200" dirty="0"/>
          </a:p>
        </p:txBody>
      </p:sp>
      <p:sp>
        <p:nvSpPr>
          <p:cNvPr id="10" name="Text 8"/>
          <p:cNvSpPr/>
          <p:nvPr/>
        </p:nvSpPr>
        <p:spPr>
          <a:xfrm>
            <a:off x="3401568" y="1234440"/>
            <a:ext cx="2468880" cy="1325880"/>
          </a:xfrm>
          <a:prstGeom prst="rect">
            <a:avLst/>
          </a:prstGeom>
          <a:noFill/>
          <a:ln/>
        </p:spPr>
        <p:txBody>
          <a:bodyPr wrap="square" lIns="0" tIns="0" rIns="0" bIns="0" rtlCol="0" anchor="ctr"/>
          <a:lstStyle/>
          <a:p>
            <a:pPr marL="0" indent="0">
              <a:buNone/>
            </a:pPr>
            <a:r>
              <a:rPr lang="en-US" sz="1000" dirty="0">
                <a:solidFill>
                  <a:srgbClr val="E8EEF7"/>
                </a:solidFill>
                <a:latin typeface="Calibri" pitchFamily="34" charset="0"/>
                <a:ea typeface="Calibri" pitchFamily="34" charset="-122"/>
                <a:cs typeface="Calibri" pitchFamily="34" charset="-120"/>
              </a:rPr>
              <a:t>South and Midwest carry the highest burdens. The Appalachian corridor shows elevated mortality across all years.</a:t>
            </a:r>
            <a:endParaRPr lang="en-US" sz="1000" dirty="0"/>
          </a:p>
        </p:txBody>
      </p:sp>
      <p:sp>
        <p:nvSpPr>
          <p:cNvPr id="11" name="Shape 9"/>
          <p:cNvSpPr/>
          <p:nvPr/>
        </p:nvSpPr>
        <p:spPr>
          <a:xfrm>
            <a:off x="6208776" y="749808"/>
            <a:ext cx="2743200" cy="1920240"/>
          </a:xfrm>
          <a:prstGeom prst="rect">
            <a:avLst/>
          </a:prstGeom>
          <a:solidFill>
            <a:srgbClr val="065A82"/>
          </a:solidFill>
          <a:ln/>
          <a:effectLst>
            <a:outerShdw blurRad="76200" dist="38100" dir="8100000" algn="bl" rotWithShape="0">
              <a:srgbClr val="000000">
                <a:alpha val="12000"/>
              </a:srgbClr>
            </a:outerShdw>
          </a:effectLst>
        </p:spPr>
        <p:txBody>
          <a:bodyPr/>
          <a:lstStyle/>
          <a:p>
            <a:endParaRPr lang="en-US"/>
          </a:p>
        </p:txBody>
      </p:sp>
      <p:sp>
        <p:nvSpPr>
          <p:cNvPr id="12" name="Text 10"/>
          <p:cNvSpPr/>
          <p:nvPr/>
        </p:nvSpPr>
        <p:spPr>
          <a:xfrm>
            <a:off x="6345936" y="859536"/>
            <a:ext cx="246888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03  Spatial Clustering</a:t>
            </a:r>
            <a:endParaRPr lang="en-US" sz="1200" dirty="0"/>
          </a:p>
        </p:txBody>
      </p:sp>
      <p:sp>
        <p:nvSpPr>
          <p:cNvPr id="13" name="Text 11"/>
          <p:cNvSpPr/>
          <p:nvPr/>
        </p:nvSpPr>
        <p:spPr>
          <a:xfrm>
            <a:off x="6345936" y="1234440"/>
            <a:ext cx="2468880" cy="1325880"/>
          </a:xfrm>
          <a:prstGeom prst="rect">
            <a:avLst/>
          </a:prstGeom>
          <a:noFill/>
          <a:ln/>
        </p:spPr>
        <p:txBody>
          <a:bodyPr wrap="square" lIns="0" tIns="0" rIns="0" bIns="0" rtlCol="0" anchor="ctr"/>
          <a:lstStyle/>
          <a:p>
            <a:pPr marL="0" indent="0">
              <a:buNone/>
            </a:pPr>
            <a:r>
              <a:rPr lang="en-US" sz="1000" dirty="0">
                <a:solidFill>
                  <a:srgbClr val="E8EEF7"/>
                </a:solidFill>
                <a:latin typeface="Calibri" pitchFamily="34" charset="0"/>
                <a:ea typeface="Calibri" pitchFamily="34" charset="-122"/>
                <a:cs typeface="Calibri" pitchFamily="34" charset="-120"/>
              </a:rPr>
              <a:t>Moran's I = 0.42 (p &lt; 0.001). Deaths are NOT randomly distributed. High-High LISA clusters in Appalachia and Midwest.</a:t>
            </a:r>
            <a:endParaRPr lang="en-US" sz="1000" dirty="0"/>
          </a:p>
        </p:txBody>
      </p:sp>
      <p:sp>
        <p:nvSpPr>
          <p:cNvPr id="14" name="Shape 12"/>
          <p:cNvSpPr/>
          <p:nvPr/>
        </p:nvSpPr>
        <p:spPr>
          <a:xfrm>
            <a:off x="320040" y="2852928"/>
            <a:ext cx="4297680" cy="1920240"/>
          </a:xfrm>
          <a:prstGeom prst="rect">
            <a:avLst/>
          </a:prstGeom>
          <a:solidFill>
            <a:srgbClr val="334155"/>
          </a:solidFill>
          <a:ln/>
          <a:effectLst>
            <a:outerShdw blurRad="76200" dist="38100" dir="8100000" algn="bl" rotWithShape="0">
              <a:srgbClr val="000000">
                <a:alpha val="12000"/>
              </a:srgbClr>
            </a:outerShdw>
          </a:effectLst>
        </p:spPr>
        <p:txBody>
          <a:bodyPr/>
          <a:lstStyle/>
          <a:p>
            <a:endParaRPr lang="en-US"/>
          </a:p>
        </p:txBody>
      </p:sp>
      <p:sp>
        <p:nvSpPr>
          <p:cNvPr id="15" name="Text 13"/>
          <p:cNvSpPr/>
          <p:nvPr/>
        </p:nvSpPr>
        <p:spPr>
          <a:xfrm>
            <a:off x="457200" y="2962656"/>
            <a:ext cx="402336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04  Regression — M3 Best Model</a:t>
            </a:r>
            <a:endParaRPr lang="en-US" sz="1200" dirty="0"/>
          </a:p>
        </p:txBody>
      </p:sp>
      <p:sp>
        <p:nvSpPr>
          <p:cNvPr id="16" name="Text 14"/>
          <p:cNvSpPr/>
          <p:nvPr/>
        </p:nvSpPr>
        <p:spPr>
          <a:xfrm>
            <a:off x="457200" y="3337560"/>
            <a:ext cx="4023360" cy="1325880"/>
          </a:xfrm>
          <a:prstGeom prst="rect">
            <a:avLst/>
          </a:prstGeom>
          <a:noFill/>
          <a:ln/>
        </p:spPr>
        <p:txBody>
          <a:bodyPr wrap="square" lIns="0" tIns="0" rIns="0" bIns="0" rtlCol="0" anchor="ctr"/>
          <a:lstStyle/>
          <a:p>
            <a:pPr marL="0" indent="0">
              <a:buNone/>
            </a:pPr>
            <a:r>
              <a:rPr lang="en-US" sz="1000" dirty="0">
                <a:solidFill>
                  <a:srgbClr val="E8EEF7"/>
                </a:solidFill>
                <a:latin typeface="Calibri" pitchFamily="34" charset="0"/>
                <a:ea typeface="Calibri" pitchFamily="34" charset="-122"/>
                <a:cs typeface="Calibri" pitchFamily="34" charset="-120"/>
              </a:rPr>
              <a:t>Adj R² = 0.87. Synthetic opioids and the Appalachian indicator are the strongest, most significant predictors.</a:t>
            </a:r>
            <a:endParaRPr lang="en-US" sz="1000" dirty="0"/>
          </a:p>
        </p:txBody>
      </p:sp>
      <p:sp>
        <p:nvSpPr>
          <p:cNvPr id="17" name="Shape 15"/>
          <p:cNvSpPr/>
          <p:nvPr/>
        </p:nvSpPr>
        <p:spPr>
          <a:xfrm>
            <a:off x="4663440" y="2852928"/>
            <a:ext cx="4297680" cy="1920240"/>
          </a:xfrm>
          <a:prstGeom prst="rect">
            <a:avLst/>
          </a:prstGeom>
          <a:solidFill>
            <a:srgbClr val="6D2E46"/>
          </a:solidFill>
          <a:ln/>
          <a:effectLst>
            <a:outerShdw blurRad="76200" dist="38100" dir="8100000" algn="bl" rotWithShape="0">
              <a:srgbClr val="000000">
                <a:alpha val="12000"/>
              </a:srgbClr>
            </a:outerShdw>
          </a:effectLst>
        </p:spPr>
        <p:txBody>
          <a:bodyPr/>
          <a:lstStyle/>
          <a:p>
            <a:endParaRPr lang="en-US"/>
          </a:p>
        </p:txBody>
      </p:sp>
      <p:sp>
        <p:nvSpPr>
          <p:cNvPr id="18" name="Text 16"/>
          <p:cNvSpPr/>
          <p:nvPr/>
        </p:nvSpPr>
        <p:spPr>
          <a:xfrm>
            <a:off x="4800600" y="2962656"/>
            <a:ext cx="402336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05  Cluster Analysis (k = 3)</a:t>
            </a:r>
            <a:endParaRPr lang="en-US" sz="1200" dirty="0"/>
          </a:p>
        </p:txBody>
      </p:sp>
      <p:sp>
        <p:nvSpPr>
          <p:cNvPr id="19" name="Text 17"/>
          <p:cNvSpPr/>
          <p:nvPr/>
        </p:nvSpPr>
        <p:spPr>
          <a:xfrm>
            <a:off x="4800600" y="3337560"/>
            <a:ext cx="4023360" cy="1325880"/>
          </a:xfrm>
          <a:prstGeom prst="rect">
            <a:avLst/>
          </a:prstGeom>
          <a:noFill/>
          <a:ln/>
        </p:spPr>
        <p:txBody>
          <a:bodyPr wrap="square" lIns="0" tIns="0" rIns="0" bIns="0" rtlCol="0" anchor="ctr"/>
          <a:lstStyle/>
          <a:p>
            <a:pPr marL="0" indent="0">
              <a:buNone/>
            </a:pPr>
            <a:r>
              <a:rPr lang="en-US" sz="1000" dirty="0">
                <a:solidFill>
                  <a:srgbClr val="E8EEF7"/>
                </a:solidFill>
                <a:latin typeface="Calibri" pitchFamily="34" charset="0"/>
                <a:ea typeface="Calibri" pitchFamily="34" charset="-122"/>
                <a:cs typeface="Calibri" pitchFamily="34" charset="-120"/>
              </a:rPr>
              <a:t>3 state profiles via PAM — target excluded. Cluster 1: high-burden. Cluster 2: moderate. Cluster 3: lower-burden. Validated against actual deaths.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02D62"/>
          </a:solidFill>
          <a:ln/>
        </p:spPr>
        <p:txBody>
          <a:bodyPr/>
          <a:lstStyle/>
          <a:p>
            <a:endParaRPr lang="en-US"/>
          </a:p>
        </p:txBody>
      </p:sp>
      <p:sp>
        <p:nvSpPr>
          <p:cNvPr id="3" name="Text 1"/>
          <p:cNvSpPr/>
          <p:nvPr/>
        </p:nvSpPr>
        <p:spPr>
          <a:xfrm>
            <a:off x="320040" y="45720"/>
            <a:ext cx="850392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Conclusion &amp; Policy Recommendations</a:t>
            </a:r>
            <a:endParaRPr lang="en-US" sz="2000" dirty="0"/>
          </a:p>
        </p:txBody>
      </p:sp>
      <p:sp>
        <p:nvSpPr>
          <p:cNvPr id="4" name="Shape 2"/>
          <p:cNvSpPr/>
          <p:nvPr/>
        </p:nvSpPr>
        <p:spPr>
          <a:xfrm>
            <a:off x="0" y="594360"/>
            <a:ext cx="64008" cy="4549140"/>
          </a:xfrm>
          <a:prstGeom prst="rect">
            <a:avLst/>
          </a:prstGeom>
          <a:solidFill>
            <a:srgbClr val="DAAA00"/>
          </a:solidFill>
          <a:ln/>
        </p:spPr>
        <p:txBody>
          <a:bodyPr/>
          <a:lstStyle/>
          <a:p>
            <a:endParaRPr lang="en-US"/>
          </a:p>
        </p:txBody>
      </p:sp>
      <p:sp>
        <p:nvSpPr>
          <p:cNvPr id="5" name="Text 3"/>
          <p:cNvSpPr/>
          <p:nvPr/>
        </p:nvSpPr>
        <p:spPr>
          <a:xfrm>
            <a:off x="320040" y="749808"/>
            <a:ext cx="4023360" cy="320040"/>
          </a:xfrm>
          <a:prstGeom prst="rect">
            <a:avLst/>
          </a:prstGeom>
          <a:noFill/>
          <a:ln/>
        </p:spPr>
        <p:txBody>
          <a:bodyPr wrap="square" lIns="0" tIns="0" rIns="0" bIns="0" rtlCol="0" anchor="ctr"/>
          <a:lstStyle/>
          <a:p>
            <a:pPr marL="0" indent="0">
              <a:buNone/>
            </a:pPr>
            <a:r>
              <a:rPr lang="en-US" sz="1300" b="1" dirty="0">
                <a:solidFill>
                  <a:srgbClr val="002D62"/>
                </a:solidFill>
                <a:latin typeface="Calibri" pitchFamily="34" charset="0"/>
                <a:ea typeface="Calibri" pitchFamily="34" charset="-122"/>
                <a:cs typeface="Calibri" pitchFamily="34" charset="-120"/>
              </a:rPr>
              <a:t>Limitations</a:t>
            </a:r>
            <a:endParaRPr lang="en-US" sz="1300" dirty="0"/>
          </a:p>
        </p:txBody>
      </p:sp>
      <p:sp>
        <p:nvSpPr>
          <p:cNvPr id="6" name="Text 4"/>
          <p:cNvSpPr/>
          <p:nvPr/>
        </p:nvSpPr>
        <p:spPr>
          <a:xfrm>
            <a:off x="320040" y="1097280"/>
            <a:ext cx="4023360" cy="1828800"/>
          </a:xfrm>
          <a:prstGeom prst="rect">
            <a:avLst/>
          </a:prstGeom>
          <a:noFill/>
          <a:ln/>
        </p:spPr>
        <p:txBody>
          <a:bodyPr wrap="square" rtlCol="0" anchor="ctr"/>
          <a:lstStyle/>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State-level only — county data would reveal finer patterns</a:t>
            </a:r>
            <a:endParaRPr lang="en-US" sz="1050" dirty="0"/>
          </a:p>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No individual-level covariates (age, income, education)</a:t>
            </a:r>
            <a:endParaRPr lang="en-US" sz="1050" dirty="0"/>
          </a:p>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Cross-sectional — causal inference not warranted</a:t>
            </a:r>
            <a:endParaRPr lang="en-US" sz="1050" dirty="0"/>
          </a:p>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High % pending may undercount actual deaths</a:t>
            </a:r>
            <a:endParaRPr lang="en-US" sz="1050" dirty="0"/>
          </a:p>
        </p:txBody>
      </p:sp>
      <p:sp>
        <p:nvSpPr>
          <p:cNvPr id="7" name="Text 5"/>
          <p:cNvSpPr/>
          <p:nvPr/>
        </p:nvSpPr>
        <p:spPr>
          <a:xfrm>
            <a:off x="4754880" y="749808"/>
            <a:ext cx="4114800" cy="320040"/>
          </a:xfrm>
          <a:prstGeom prst="rect">
            <a:avLst/>
          </a:prstGeom>
          <a:noFill/>
          <a:ln/>
        </p:spPr>
        <p:txBody>
          <a:bodyPr wrap="square" lIns="0" tIns="0" rIns="0" bIns="0" rtlCol="0" anchor="ctr"/>
          <a:lstStyle/>
          <a:p>
            <a:pPr marL="0" indent="0">
              <a:buNone/>
            </a:pPr>
            <a:r>
              <a:rPr lang="en-US" sz="1300" b="1" dirty="0">
                <a:solidFill>
                  <a:srgbClr val="002D62"/>
                </a:solidFill>
                <a:latin typeface="Calibri" pitchFamily="34" charset="0"/>
                <a:ea typeface="Calibri" pitchFamily="34" charset="-122"/>
                <a:cs typeface="Calibri" pitchFamily="34" charset="-120"/>
              </a:rPr>
              <a:t>Policy Recommendations</a:t>
            </a:r>
            <a:endParaRPr lang="en-US" sz="1300" dirty="0"/>
          </a:p>
        </p:txBody>
      </p:sp>
      <p:sp>
        <p:nvSpPr>
          <p:cNvPr id="8" name="Shape 6"/>
          <p:cNvSpPr/>
          <p:nvPr/>
        </p:nvSpPr>
        <p:spPr>
          <a:xfrm>
            <a:off x="4754880" y="1097280"/>
            <a:ext cx="4114800" cy="566928"/>
          </a:xfrm>
          <a:prstGeom prst="rect">
            <a:avLst/>
          </a:prstGeom>
          <a:solidFill>
            <a:srgbClr val="E8EEF7"/>
          </a:solidFill>
          <a:ln/>
        </p:spPr>
        <p:txBody>
          <a:bodyPr/>
          <a:lstStyle/>
          <a:p>
            <a:endParaRPr lang="en-US"/>
          </a:p>
        </p:txBody>
      </p:sp>
      <p:sp>
        <p:nvSpPr>
          <p:cNvPr id="9" name="Text 7"/>
          <p:cNvSpPr/>
          <p:nvPr/>
        </p:nvSpPr>
        <p:spPr>
          <a:xfrm>
            <a:off x="4892040" y="1152144"/>
            <a:ext cx="3840480" cy="45720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  Naloxone — prioritize High-High LISA cluster states (Appalachia, Midwest)</a:t>
            </a:r>
            <a:endParaRPr lang="en-US" sz="1050" dirty="0"/>
          </a:p>
        </p:txBody>
      </p:sp>
      <p:sp>
        <p:nvSpPr>
          <p:cNvPr id="10" name="Shape 8"/>
          <p:cNvSpPr/>
          <p:nvPr/>
        </p:nvSpPr>
        <p:spPr>
          <a:xfrm>
            <a:off x="4754880" y="1755648"/>
            <a:ext cx="4114800" cy="566928"/>
          </a:xfrm>
          <a:prstGeom prst="rect">
            <a:avLst/>
          </a:prstGeom>
          <a:solidFill>
            <a:srgbClr val="E8EEF7"/>
          </a:solidFill>
          <a:ln/>
        </p:spPr>
        <p:txBody>
          <a:bodyPr/>
          <a:lstStyle/>
          <a:p>
            <a:endParaRPr lang="en-US"/>
          </a:p>
        </p:txBody>
      </p:sp>
      <p:sp>
        <p:nvSpPr>
          <p:cNvPr id="11" name="Text 9"/>
          <p:cNvSpPr/>
          <p:nvPr/>
        </p:nvSpPr>
        <p:spPr>
          <a:xfrm>
            <a:off x="4892040" y="1810512"/>
            <a:ext cx="3840480" cy="45720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  Fentanyl test strips — urgently needed in Cluster 1 synthetic-dominant states</a:t>
            </a:r>
            <a:endParaRPr lang="en-US" sz="1050" dirty="0"/>
          </a:p>
        </p:txBody>
      </p:sp>
      <p:sp>
        <p:nvSpPr>
          <p:cNvPr id="12" name="Shape 10"/>
          <p:cNvSpPr/>
          <p:nvPr/>
        </p:nvSpPr>
        <p:spPr>
          <a:xfrm>
            <a:off x="4754880" y="2414016"/>
            <a:ext cx="4114800" cy="566928"/>
          </a:xfrm>
          <a:prstGeom prst="rect">
            <a:avLst/>
          </a:prstGeom>
          <a:solidFill>
            <a:srgbClr val="E8EEF7"/>
          </a:solidFill>
          <a:ln/>
        </p:spPr>
        <p:txBody>
          <a:bodyPr/>
          <a:lstStyle/>
          <a:p>
            <a:endParaRPr lang="en-US"/>
          </a:p>
        </p:txBody>
      </p:sp>
      <p:sp>
        <p:nvSpPr>
          <p:cNvPr id="13" name="Text 11"/>
          <p:cNvSpPr/>
          <p:nvPr/>
        </p:nvSpPr>
        <p:spPr>
          <a:xfrm>
            <a:off x="4892040" y="2468880"/>
            <a:ext cx="3840480" cy="45720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  MAT funding — differentiated by cluster typology, not one-size-fits-all</a:t>
            </a:r>
            <a:endParaRPr lang="en-US" sz="1050" dirty="0"/>
          </a:p>
        </p:txBody>
      </p:sp>
      <p:sp>
        <p:nvSpPr>
          <p:cNvPr id="14" name="Shape 12"/>
          <p:cNvSpPr/>
          <p:nvPr/>
        </p:nvSpPr>
        <p:spPr>
          <a:xfrm>
            <a:off x="4754880" y="3072384"/>
            <a:ext cx="4114800" cy="566928"/>
          </a:xfrm>
          <a:prstGeom prst="rect">
            <a:avLst/>
          </a:prstGeom>
          <a:solidFill>
            <a:srgbClr val="E8EEF7"/>
          </a:solidFill>
          <a:ln/>
        </p:spPr>
        <p:txBody>
          <a:bodyPr/>
          <a:lstStyle/>
          <a:p>
            <a:endParaRPr lang="en-US"/>
          </a:p>
        </p:txBody>
      </p:sp>
      <p:sp>
        <p:nvSpPr>
          <p:cNvPr id="15" name="Text 13"/>
          <p:cNvSpPr/>
          <p:nvPr/>
        </p:nvSpPr>
        <p:spPr>
          <a:xfrm>
            <a:off x="4892040" y="3127248"/>
            <a:ext cx="3840480" cy="45720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  Invest in toxicology capacity in high-pending states to close surveillance gaps</a:t>
            </a:r>
            <a:endParaRPr lang="en-US" sz="1050" dirty="0"/>
          </a:p>
        </p:txBody>
      </p:sp>
      <p:sp>
        <p:nvSpPr>
          <p:cNvPr id="16" name="Shape 14"/>
          <p:cNvSpPr/>
          <p:nvPr/>
        </p:nvSpPr>
        <p:spPr>
          <a:xfrm>
            <a:off x="320040" y="3090672"/>
            <a:ext cx="4023360" cy="1682496"/>
          </a:xfrm>
          <a:prstGeom prst="rect">
            <a:avLst/>
          </a:prstGeom>
          <a:solidFill>
            <a:srgbClr val="002D62"/>
          </a:solidFill>
          <a:ln/>
          <a:effectLst>
            <a:outerShdw blurRad="76200" dist="38100" dir="8100000" algn="bl" rotWithShape="0">
              <a:srgbClr val="000000">
                <a:alpha val="12000"/>
              </a:srgbClr>
            </a:outerShdw>
          </a:effectLst>
        </p:spPr>
        <p:txBody>
          <a:bodyPr/>
          <a:lstStyle/>
          <a:p>
            <a:endParaRPr lang="en-US"/>
          </a:p>
        </p:txBody>
      </p:sp>
      <p:sp>
        <p:nvSpPr>
          <p:cNvPr id="17" name="Text 15"/>
          <p:cNvSpPr/>
          <p:nvPr/>
        </p:nvSpPr>
        <p:spPr>
          <a:xfrm>
            <a:off x="502920" y="3182112"/>
            <a:ext cx="3657600" cy="274320"/>
          </a:xfrm>
          <a:prstGeom prst="rect">
            <a:avLst/>
          </a:prstGeom>
          <a:noFill/>
          <a:ln/>
        </p:spPr>
        <p:txBody>
          <a:bodyPr wrap="square" lIns="0" tIns="0" rIns="0" bIns="0" rtlCol="0" anchor="ctr"/>
          <a:lstStyle/>
          <a:p>
            <a:pPr marL="0" indent="0">
              <a:buNone/>
            </a:pPr>
            <a:r>
              <a:rPr lang="en-US" sz="1100" b="1" dirty="0">
                <a:solidFill>
                  <a:srgbClr val="E8EEF7"/>
                </a:solidFill>
                <a:latin typeface="Calibri" pitchFamily="34" charset="0"/>
                <a:ea typeface="Calibri" pitchFamily="34" charset="-122"/>
                <a:cs typeface="Calibri" pitchFamily="34" charset="-120"/>
              </a:rPr>
              <a:t>Key Takeaway</a:t>
            </a:r>
            <a:endParaRPr lang="en-US" sz="1100" dirty="0"/>
          </a:p>
        </p:txBody>
      </p:sp>
      <p:sp>
        <p:nvSpPr>
          <p:cNvPr id="18" name="Text 16"/>
          <p:cNvSpPr/>
          <p:nvPr/>
        </p:nvSpPr>
        <p:spPr>
          <a:xfrm>
            <a:off x="502920" y="3502152"/>
            <a:ext cx="3657600" cy="1143000"/>
          </a:xfrm>
          <a:prstGeom prst="rect">
            <a:avLst/>
          </a:prstGeom>
          <a:noFill/>
          <a:ln/>
        </p:spPr>
        <p:txBody>
          <a:bodyPr wrap="square" lIns="0" tIns="0" rIns="0" bIns="0" rtlCol="0" anchor="ctr"/>
          <a:lstStyle/>
          <a:p>
            <a:pPr marL="0" indent="0">
              <a:buNone/>
            </a:pPr>
            <a:r>
              <a:rPr lang="en-US" sz="1050" i="1" dirty="0">
                <a:solidFill>
                  <a:srgbClr val="FFFFFF"/>
                </a:solidFill>
                <a:latin typeface="Calibri" pitchFamily="34" charset="0"/>
                <a:ea typeface="Calibri" pitchFamily="34" charset="-122"/>
                <a:cs typeface="Calibri" pitchFamily="34" charset="-120"/>
              </a:rPr>
              <a:t>The overdose epidemic is spatially clustered, driven by fentanyl, and concentrated in socioeconomically vulnerable regions. Data-driven targeting — not uniform distribution — can save the most lives.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02D62"/>
          </a:solidFill>
          <a:ln/>
        </p:spPr>
        <p:txBody>
          <a:bodyPr/>
          <a:lstStyle/>
          <a:p>
            <a:endParaRPr lang="en-US"/>
          </a:p>
        </p:txBody>
      </p:sp>
      <p:sp>
        <p:nvSpPr>
          <p:cNvPr id="3" name="Text 1"/>
          <p:cNvSpPr/>
          <p:nvPr/>
        </p:nvSpPr>
        <p:spPr>
          <a:xfrm>
            <a:off x="320040" y="45720"/>
            <a:ext cx="850392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Acknowledgement</a:t>
            </a:r>
            <a:endParaRPr lang="en-US" sz="2000" dirty="0"/>
          </a:p>
        </p:txBody>
      </p:sp>
      <p:sp>
        <p:nvSpPr>
          <p:cNvPr id="4" name="Shape 2"/>
          <p:cNvSpPr/>
          <p:nvPr/>
        </p:nvSpPr>
        <p:spPr>
          <a:xfrm>
            <a:off x="0" y="594360"/>
            <a:ext cx="64008" cy="4549140"/>
          </a:xfrm>
          <a:prstGeom prst="rect">
            <a:avLst/>
          </a:prstGeom>
          <a:solidFill>
            <a:srgbClr val="DAAA00"/>
          </a:solidFill>
          <a:ln/>
        </p:spPr>
        <p:txBody>
          <a:bodyPr/>
          <a:lstStyle/>
          <a:p>
            <a:endParaRPr lang="en-US"/>
          </a:p>
        </p:txBody>
      </p:sp>
      <p:sp>
        <p:nvSpPr>
          <p:cNvPr id="5" name="Shape 3"/>
          <p:cNvSpPr/>
          <p:nvPr/>
        </p:nvSpPr>
        <p:spPr>
          <a:xfrm>
            <a:off x="457200" y="822960"/>
            <a:ext cx="8229600" cy="2286000"/>
          </a:xfrm>
          <a:prstGeom prst="rect">
            <a:avLst/>
          </a:prstGeom>
          <a:solidFill>
            <a:srgbClr val="E8EEF7"/>
          </a:solidFill>
          <a:ln w="19050">
            <a:solidFill>
              <a:srgbClr val="002D62"/>
            </a:solidFill>
            <a:prstDash val="solid"/>
          </a:ln>
          <a:effectLst>
            <a:outerShdw blurRad="76200" dist="38100" dir="8100000" algn="bl" rotWithShape="0">
              <a:srgbClr val="000000">
                <a:alpha val="12000"/>
              </a:srgbClr>
            </a:outerShdw>
          </a:effectLst>
        </p:spPr>
        <p:txBody>
          <a:bodyPr/>
          <a:lstStyle/>
          <a:p>
            <a:endParaRPr lang="en-US"/>
          </a:p>
        </p:txBody>
      </p:sp>
      <p:sp>
        <p:nvSpPr>
          <p:cNvPr id="6" name="Text 4"/>
          <p:cNvSpPr/>
          <p:nvPr/>
        </p:nvSpPr>
        <p:spPr>
          <a:xfrm>
            <a:off x="685800" y="960120"/>
            <a:ext cx="7772400" cy="2011680"/>
          </a:xfrm>
          <a:prstGeom prst="rect">
            <a:avLst/>
          </a:prstGeom>
          <a:noFill/>
          <a:ln/>
        </p:spPr>
        <p:txBody>
          <a:bodyPr wrap="square" lIns="0" tIns="0" rIns="0" bIns="0" rtlCol="0" anchor="ctr"/>
          <a:lstStyle/>
          <a:p>
            <a:pPr marL="0" indent="0" algn="ctr">
              <a:buNone/>
            </a:pPr>
            <a:r>
              <a:rPr lang="en-US" sz="1600" i="1" dirty="0">
                <a:solidFill>
                  <a:srgbClr val="002D62"/>
                </a:solidFill>
                <a:latin typeface="Calibri" pitchFamily="34" charset="0"/>
                <a:ea typeface="Calibri" pitchFamily="34" charset="-122"/>
                <a:cs typeface="Calibri" pitchFamily="34" charset="-120"/>
              </a:rPr>
              <a:t>The findings presented in this project are exclusive to this course and were not presented in this or previous semesters and will not be presented in any other courses during this semester.</a:t>
            </a:r>
            <a:endParaRPr lang="en-US" sz="1600" dirty="0"/>
          </a:p>
        </p:txBody>
      </p:sp>
      <p:sp>
        <p:nvSpPr>
          <p:cNvPr id="7" name="Text 5"/>
          <p:cNvSpPr/>
          <p:nvPr/>
        </p:nvSpPr>
        <p:spPr>
          <a:xfrm>
            <a:off x="457200" y="3337560"/>
            <a:ext cx="8229600" cy="274320"/>
          </a:xfrm>
          <a:prstGeom prst="rect">
            <a:avLst/>
          </a:prstGeom>
          <a:noFill/>
          <a:ln/>
        </p:spPr>
        <p:txBody>
          <a:bodyPr wrap="square" lIns="0" tIns="0" rIns="0" bIns="0" rtlCol="0" anchor="ctr"/>
          <a:lstStyle/>
          <a:p>
            <a:pPr marL="0" indent="0">
              <a:buNone/>
            </a:pPr>
            <a:r>
              <a:rPr lang="en-US" sz="1200" b="1" dirty="0">
                <a:solidFill>
                  <a:srgbClr val="002D62"/>
                </a:solidFill>
                <a:latin typeface="Calibri" pitchFamily="34" charset="0"/>
                <a:ea typeface="Calibri" pitchFamily="34" charset="-122"/>
                <a:cs typeface="Calibri" pitchFamily="34" charset="-120"/>
              </a:rPr>
              <a:t>Data Source</a:t>
            </a:r>
            <a:endParaRPr lang="en-US" sz="1200" dirty="0"/>
          </a:p>
        </p:txBody>
      </p:sp>
      <p:sp>
        <p:nvSpPr>
          <p:cNvPr id="8" name="Text 6"/>
          <p:cNvSpPr/>
          <p:nvPr/>
        </p:nvSpPr>
        <p:spPr>
          <a:xfrm>
            <a:off x="457200" y="3630168"/>
            <a:ext cx="8229600" cy="4572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CDC Vital Statistics Rapid Release (VSRR) Provisional Drug Overdose Death Counts</a:t>
            </a:r>
            <a:endParaRPr lang="en-US" sz="1100" dirty="0"/>
          </a:p>
          <a:p>
            <a:pPr marL="0" indent="0">
              <a:buNone/>
            </a:pPr>
            <a:r>
              <a:rPr lang="en-US" sz="1100" dirty="0">
                <a:solidFill>
                  <a:srgbClr val="64748B"/>
                </a:solidFill>
                <a:latin typeface="Calibri" pitchFamily="34" charset="0"/>
                <a:ea typeface="Calibri" pitchFamily="34" charset="-122"/>
                <a:cs typeface="Calibri" pitchFamily="34" charset="-120"/>
              </a:rPr>
              <a:t>https://data.cdc.gov/api/views/xkb8-kh2a/rows.csv</a:t>
            </a:r>
            <a:endParaRPr lang="en-US" sz="1100" dirty="0"/>
          </a:p>
        </p:txBody>
      </p:sp>
      <p:sp>
        <p:nvSpPr>
          <p:cNvPr id="9" name="Text 7"/>
          <p:cNvSpPr/>
          <p:nvPr/>
        </p:nvSpPr>
        <p:spPr>
          <a:xfrm>
            <a:off x="457200" y="4096512"/>
            <a:ext cx="8229600" cy="22860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Kaggle Reference: craigchilvers/us-drug-overdose-spatial-autocorrelation</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2D62"/>
        </a:solidFill>
        <a:effectLst/>
      </p:bgPr>
    </p:bg>
    <p:spTree>
      <p:nvGrpSpPr>
        <p:cNvPr id="1" name=""/>
        <p:cNvGrpSpPr/>
        <p:nvPr/>
      </p:nvGrpSpPr>
      <p:grpSpPr>
        <a:xfrm>
          <a:off x="0" y="0"/>
          <a:ext cx="0" cy="0"/>
          <a:chOff x="0" y="0"/>
          <a:chExt cx="0" cy="0"/>
        </a:xfrm>
      </p:grpSpPr>
      <p:sp>
        <p:nvSpPr>
          <p:cNvPr id="2" name="Shape 0"/>
          <p:cNvSpPr/>
          <p:nvPr/>
        </p:nvSpPr>
        <p:spPr>
          <a:xfrm>
            <a:off x="0" y="1417320"/>
            <a:ext cx="9144000" cy="54864"/>
          </a:xfrm>
          <a:prstGeom prst="rect">
            <a:avLst/>
          </a:prstGeom>
          <a:solidFill>
            <a:srgbClr val="DAAA00"/>
          </a:solidFill>
          <a:ln/>
        </p:spPr>
        <p:txBody>
          <a:bodyPr/>
          <a:lstStyle/>
          <a:p>
            <a:endParaRPr lang="en-US"/>
          </a:p>
        </p:txBody>
      </p:sp>
      <p:sp>
        <p:nvSpPr>
          <p:cNvPr id="3" name="Shape 1"/>
          <p:cNvSpPr/>
          <p:nvPr/>
        </p:nvSpPr>
        <p:spPr>
          <a:xfrm>
            <a:off x="0" y="3749040"/>
            <a:ext cx="9144000" cy="54864"/>
          </a:xfrm>
          <a:prstGeom prst="rect">
            <a:avLst/>
          </a:prstGeom>
          <a:solidFill>
            <a:srgbClr val="DAAA00"/>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74320" y="137160"/>
            <a:ext cx="822960" cy="822960"/>
          </a:xfrm>
          <a:prstGeom prst="rect">
            <a:avLst/>
          </a:prstGeom>
        </p:spPr>
      </p:pic>
      <p:sp>
        <p:nvSpPr>
          <p:cNvPr id="5" name="Text 2"/>
          <p:cNvSpPr/>
          <p:nvPr/>
        </p:nvSpPr>
        <p:spPr>
          <a:xfrm>
            <a:off x="1188720" y="182880"/>
            <a:ext cx="7680960" cy="1097280"/>
          </a:xfrm>
          <a:prstGeom prst="rect">
            <a:avLst/>
          </a:prstGeom>
          <a:noFill/>
          <a:ln/>
        </p:spPr>
        <p:txBody>
          <a:bodyPr wrap="square" lIns="0" tIns="0" rIns="0" bIns="0"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6" name="Text 3"/>
          <p:cNvSpPr/>
          <p:nvPr/>
        </p:nvSpPr>
        <p:spPr>
          <a:xfrm>
            <a:off x="457200" y="1508760"/>
            <a:ext cx="8229600" cy="457200"/>
          </a:xfrm>
          <a:prstGeom prst="rect">
            <a:avLst/>
          </a:prstGeom>
          <a:noFill/>
          <a:ln/>
        </p:spPr>
        <p:txBody>
          <a:bodyPr wrap="square" lIns="0" tIns="0" rIns="0" bIns="0" rtlCol="0" anchor="ctr"/>
          <a:lstStyle/>
          <a:p>
            <a:pPr marL="0" indent="0" algn="ctr">
              <a:buNone/>
            </a:pPr>
            <a:r>
              <a:rPr lang="en-US" sz="1800" i="1" dirty="0">
                <a:solidFill>
                  <a:srgbClr val="F5D060"/>
                </a:solidFill>
                <a:latin typeface="Calibri" pitchFamily="34" charset="0"/>
                <a:ea typeface="Calibri" pitchFamily="34" charset="-122"/>
                <a:cs typeface="Calibri" pitchFamily="34" charset="-120"/>
              </a:rPr>
              <a:t>Questions &amp; Answers</a:t>
            </a:r>
            <a:endParaRPr lang="en-US" sz="1800" dirty="0"/>
          </a:p>
        </p:txBody>
      </p:sp>
      <p:sp>
        <p:nvSpPr>
          <p:cNvPr id="7" name="Text 4"/>
          <p:cNvSpPr/>
          <p:nvPr/>
        </p:nvSpPr>
        <p:spPr>
          <a:xfrm>
            <a:off x="457200" y="3858768"/>
            <a:ext cx="8229600" cy="109728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Mohamed Haji
</a:t>
            </a:r>
            <a:r>
              <a:rPr lang="en-US" sz="1400" dirty="0">
                <a:solidFill>
                  <a:srgbClr val="F5D060"/>
                </a:solidFill>
                <a:latin typeface="Calibri" pitchFamily="34" charset="0"/>
                <a:ea typeface="Calibri" pitchFamily="34" charset="-122"/>
                <a:cs typeface="Calibri" pitchFamily="34" charset="-120"/>
              </a:rPr>
              <a:t>mhaji@student.kennesaw.edu
</a:t>
            </a:r>
            <a:r>
              <a:rPr lang="en-US" sz="1200" dirty="0">
                <a:solidFill>
                  <a:srgbClr val="CADCFC"/>
                </a:solidFill>
                <a:latin typeface="Calibri" pitchFamily="34" charset="0"/>
                <a:ea typeface="Calibri" pitchFamily="34" charset="-122"/>
                <a:cs typeface="Calibri" pitchFamily="34" charset="-120"/>
              </a:rPr>
              <a:t>DS7130 / DS7310  |  Dr. Amir Karami  |  Kennesaw State University</a:t>
            </a:r>
            <a:endParaRPr lang="en-US" sz="1700" dirty="0"/>
          </a:p>
        </p:txBody>
      </p:sp>
      <p:sp>
        <p:nvSpPr>
          <p:cNvPr id="8" name="Text 5"/>
          <p:cNvSpPr/>
          <p:nvPr/>
        </p:nvSpPr>
        <p:spPr>
          <a:xfrm>
            <a:off x="457200" y="3474720"/>
            <a:ext cx="8229600" cy="256032"/>
          </a:xfrm>
          <a:prstGeom prst="rect">
            <a:avLst/>
          </a:prstGeom>
          <a:noFill/>
          <a:ln/>
        </p:spPr>
        <p:txBody>
          <a:bodyPr wrap="square" lIns="0" tIns="0" rIns="0" bIns="0" rtlCol="0" anchor="ctr"/>
          <a:lstStyle/>
          <a:p>
            <a:pPr marL="0" indent="0" algn="ctr">
              <a:buNone/>
            </a:pPr>
            <a:r>
              <a:rPr lang="en-US" sz="900" i="1" dirty="0">
                <a:solidFill>
                  <a:srgbClr val="D62728"/>
                </a:solidFill>
                <a:latin typeface="Calibri" pitchFamily="34" charset="0"/>
                <a:ea typeface="Calibri" pitchFamily="34" charset="-122"/>
                <a:cs typeface="Calibri" pitchFamily="34" charset="-120"/>
              </a:rPr>
              <a:t>⚠ Delete RPub URL after presentation  |  Submit compressed folder to D2L before session</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396</TotalTime>
  <Words>1830</Words>
  <Application>Microsoft Macintosh PowerPoint</Application>
  <PresentationFormat>On-screen Show (16:9)</PresentationFormat>
  <Paragraphs>255</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 Drug Overdose Mortality</dc:title>
  <dc:subject>PptxGenJS Presentation</dc:subject>
  <dc:creator>Mohamed Haji</dc:creator>
  <cp:lastModifiedBy>Microsoft Office User</cp:lastModifiedBy>
  <cp:revision>1</cp:revision>
  <dcterms:created xsi:type="dcterms:W3CDTF">2026-04-26T23:27:07Z</dcterms:created>
  <dcterms:modified xsi:type="dcterms:W3CDTF">2026-04-27T06:12:19Z</dcterms:modified>
</cp:coreProperties>
</file>